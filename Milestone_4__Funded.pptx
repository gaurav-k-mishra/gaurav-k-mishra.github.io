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y="6858000" cx="12192000"/>
  <p:notesSz cx="6858000" cy="9144000"/>
  <p:embeddedFontLst>
    <p:embeddedFont>
      <p:font typeface="Libre Franklin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7" roundtripDataSignature="AMtx7mgO9FjS9P7lcYIWkPHVNw/5gTozG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LibreFranklin-bold.fntdata"/><Relationship Id="rId23" Type="http://schemas.openxmlformats.org/officeDocument/2006/relationships/font" Target="fonts/LibreFranklin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Franklin-boldItalic.fntdata"/><Relationship Id="rId25" Type="http://schemas.openxmlformats.org/officeDocument/2006/relationships/font" Target="fonts/LibreFranklin-italic.fntdata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20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0"/>
          <p:cNvSpPr txBox="1"/>
          <p:nvPr>
            <p:ph idx="1" type="subTitle"/>
          </p:nvPr>
        </p:nvSpPr>
        <p:spPr>
          <a:xfrm>
            <a:off x="1100051" y="4645152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cxnSp>
        <p:nvCxnSpPr>
          <p:cNvPr id="17" name="Google Shape;17;p20"/>
          <p:cNvCxnSpPr/>
          <p:nvPr/>
        </p:nvCxnSpPr>
        <p:spPr>
          <a:xfrm>
            <a:off x="1207658" y="4474741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4" name="Google Shape;24;p21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2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2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2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3"/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3"/>
          <p:cNvSpPr txBox="1"/>
          <p:nvPr>
            <p:ph type="title"/>
          </p:nvPr>
        </p:nvSpPr>
        <p:spPr>
          <a:xfrm>
            <a:off x="643466" y="786383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2" type="body"/>
          </p:nvPr>
        </p:nvSpPr>
        <p:spPr>
          <a:xfrm>
            <a:off x="643465" y="3043050"/>
            <a:ext cx="3517567" cy="306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7" name="Google Shape;37;p23"/>
          <p:cNvSpPr txBox="1"/>
          <p:nvPr>
            <p:ph idx="10" type="dt"/>
          </p:nvPr>
        </p:nvSpPr>
        <p:spPr>
          <a:xfrm>
            <a:off x="643464" y="6446520"/>
            <a:ext cx="3517568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3"/>
          <p:cNvSpPr txBox="1"/>
          <p:nvPr>
            <p:ph idx="11" type="ftr"/>
          </p:nvPr>
        </p:nvSpPr>
        <p:spPr>
          <a:xfrm>
            <a:off x="5458983" y="6446520"/>
            <a:ext cx="533401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l">
              <a:spcBef>
                <a:spcPts val="0"/>
              </a:spcBef>
              <a:buNone/>
              <a:defRPr sz="8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4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" type="body"/>
          </p:nvPr>
        </p:nvSpPr>
        <p:spPr>
          <a:xfrm>
            <a:off x="1097280" y="466344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cxnSp>
        <p:nvCxnSpPr>
          <p:cNvPr id="44" name="Google Shape;44;p24"/>
          <p:cNvCxnSpPr/>
          <p:nvPr/>
        </p:nvCxnSpPr>
        <p:spPr>
          <a:xfrm>
            <a:off x="1207658" y="4485132"/>
            <a:ext cx="987552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24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" type="body"/>
          </p:nvPr>
        </p:nvSpPr>
        <p:spPr>
          <a:xfrm>
            <a:off x="1097280" y="2120900"/>
            <a:ext cx="4639736" cy="3748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1" name="Google Shape;51;p25"/>
          <p:cNvSpPr txBox="1"/>
          <p:nvPr>
            <p:ph idx="2" type="body"/>
          </p:nvPr>
        </p:nvSpPr>
        <p:spPr>
          <a:xfrm>
            <a:off x="6515944" y="2120900"/>
            <a:ext cx="4639736" cy="37481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6"/>
          <p:cNvSpPr txBox="1"/>
          <p:nvPr>
            <p:ph idx="1" type="body"/>
          </p:nvPr>
        </p:nvSpPr>
        <p:spPr>
          <a:xfrm>
            <a:off x="1097280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6"/>
          <p:cNvSpPr txBox="1"/>
          <p:nvPr>
            <p:ph idx="2" type="body"/>
          </p:nvPr>
        </p:nvSpPr>
        <p:spPr>
          <a:xfrm>
            <a:off x="1097280" y="2958274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9" name="Google Shape;59;p26"/>
          <p:cNvSpPr txBox="1"/>
          <p:nvPr>
            <p:ph idx="3" type="body"/>
          </p:nvPr>
        </p:nvSpPr>
        <p:spPr>
          <a:xfrm>
            <a:off x="6515944" y="2057400"/>
            <a:ext cx="4639736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60" name="Google Shape;60;p26"/>
          <p:cNvSpPr txBox="1"/>
          <p:nvPr>
            <p:ph idx="4" type="body"/>
          </p:nvPr>
        </p:nvSpPr>
        <p:spPr>
          <a:xfrm>
            <a:off x="6515944" y="2958273"/>
            <a:ext cx="4639736" cy="29108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61" name="Google Shape;61;p26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28"/>
          <p:cNvSpPr/>
          <p:nvPr>
            <p:ph idx="2" type="pic"/>
          </p:nvPr>
        </p:nvSpPr>
        <p:spPr>
          <a:xfrm>
            <a:off x="15" y="0"/>
            <a:ext cx="12191985" cy="4578350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2" name="Google Shape;72;p28"/>
          <p:cNvSpPr txBox="1"/>
          <p:nvPr>
            <p:ph type="title"/>
          </p:nvPr>
        </p:nvSpPr>
        <p:spPr>
          <a:xfrm>
            <a:off x="1097279" y="4799362"/>
            <a:ext cx="10113645" cy="74368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8"/>
          <p:cNvSpPr txBox="1"/>
          <p:nvPr>
            <p:ph idx="1" type="body"/>
          </p:nvPr>
        </p:nvSpPr>
        <p:spPr>
          <a:xfrm>
            <a:off x="1097279" y="5715000"/>
            <a:ext cx="1011326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4" name="Google Shape;74;p28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9"/>
          <p:cNvSpPr txBox="1"/>
          <p:nvPr>
            <p:ph idx="1" type="body"/>
          </p:nvPr>
        </p:nvSpPr>
        <p:spPr>
          <a:xfrm rot="5400000">
            <a:off x="4246035" y="-1040554"/>
            <a:ext cx="3760891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0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0"/>
          <p:cNvSpPr txBox="1"/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" type="body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2pPr>
            <a:lvl3pPr indent="-3429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3pPr>
            <a:lvl4pPr indent="-3429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4pPr>
            <a:lvl5pPr indent="-3429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  <a:defRPr b="0" i="0" sz="47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9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9250" lvl="0" marL="457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Calibri"/>
              <a:buChar char=" "/>
              <a:defRPr b="0" i="0" sz="19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36550" lvl="1" marL="9144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Calibri"/>
              <a:buChar char="◦"/>
              <a:defRPr b="0" i="0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115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115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115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Calibri"/>
              <a:buChar char="◦"/>
              <a:defRPr b="0" i="0" sz="13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9"/>
          <p:cNvSpPr txBox="1"/>
          <p:nvPr>
            <p:ph idx="10" type="dt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19"/>
          <p:cNvSpPr txBox="1"/>
          <p:nvPr>
            <p:ph idx="11" type="ftr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1" name="Google Shape;11;p19"/>
          <p:cNvSpPr txBox="1"/>
          <p:nvPr>
            <p:ph idx="12" type="sldNum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FFFFFF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2" name="Google Shape;12;p19"/>
          <p:cNvCxnSpPr/>
          <p:nvPr/>
        </p:nvCxnSpPr>
        <p:spPr>
          <a:xfrm>
            <a:off x="1193532" y="1897380"/>
            <a:ext cx="9966960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6.png"/><Relationship Id="rId5" Type="http://schemas.openxmlformats.org/officeDocument/2006/relationships/image" Target="../media/image8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Relationship Id="rId4" Type="http://schemas.openxmlformats.org/officeDocument/2006/relationships/image" Target="../media/image5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slidebean.com/blog/startups-pitch-deck-exampl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"/>
          <p:cNvSpPr/>
          <p:nvPr/>
        </p:nvSpPr>
        <p:spPr>
          <a:xfrm>
            <a:off x="0" y="1"/>
            <a:ext cx="12192001" cy="6857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5" name="Google Shape;95;p1"/>
          <p:cNvSpPr txBox="1"/>
          <p:nvPr>
            <p:ph type="ctrTitle"/>
          </p:nvPr>
        </p:nvSpPr>
        <p:spPr>
          <a:xfrm>
            <a:off x="5289754" y="639097"/>
            <a:ext cx="6253317" cy="368601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Bookman Old Style"/>
              <a:buNone/>
            </a:pPr>
            <a:r>
              <a:rPr lang="en-US" sz="8000"/>
              <a:t>Milestone #4: Funded</a:t>
            </a:r>
            <a:endParaRPr/>
          </a:p>
        </p:txBody>
      </p:sp>
      <p:sp>
        <p:nvSpPr>
          <p:cNvPr id="96" name="Google Shape;96;p1"/>
          <p:cNvSpPr txBox="1"/>
          <p:nvPr>
            <p:ph idx="1" type="subTitle"/>
          </p:nvPr>
        </p:nvSpPr>
        <p:spPr>
          <a:xfrm>
            <a:off x="5289753" y="4672739"/>
            <a:ext cx="6269347" cy="10214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262626"/>
                </a:solidFill>
              </a:rPr>
              <a:t>GAURAV K MISHRA </a:t>
            </a:r>
            <a:endParaRPr sz="2400">
              <a:solidFill>
                <a:srgbClr val="262626"/>
              </a:solidFill>
            </a:endParaRPr>
          </a:p>
        </p:txBody>
      </p:sp>
      <p:pic>
        <p:nvPicPr>
          <p:cNvPr descr="A picture containing building, sitting, bench, side&#10;&#10;Description automatically generated" id="97" name="Google Shape;9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1"/>
            <a:ext cx="4635315" cy="68579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8" name="Google Shape;98;p1"/>
          <p:cNvCxnSpPr/>
          <p:nvPr/>
        </p:nvCxnSpPr>
        <p:spPr>
          <a:xfrm>
            <a:off x="5427754" y="4498925"/>
            <a:ext cx="5636107" cy="0"/>
          </a:xfrm>
          <a:prstGeom prst="straightConnector1">
            <a:avLst/>
          </a:prstGeom>
          <a:noFill/>
          <a:ln cap="flat" cmpd="sng" w="12700">
            <a:solidFill>
              <a:srgbClr val="3F3F3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/>
          <p:nvPr/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4" name="Google Shape;104;p2"/>
          <p:cNvSpPr txBox="1"/>
          <p:nvPr>
            <p:ph type="ctrTitle"/>
          </p:nvPr>
        </p:nvSpPr>
        <p:spPr>
          <a:xfrm>
            <a:off x="1097280" y="758952"/>
            <a:ext cx="10058400" cy="3892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Bookman Old Style"/>
              <a:buNone/>
            </a:pPr>
            <a:r>
              <a:rPr i="1" lang="en-US" sz="4800">
                <a:solidFill>
                  <a:srgbClr val="FFFFFF"/>
                </a:solidFill>
              </a:rPr>
              <a:t>Have you received financial support from family, friends, investor, banks, or other contributions?</a:t>
            </a:r>
            <a:endParaRPr/>
          </a:p>
        </p:txBody>
      </p:sp>
      <p:sp>
        <p:nvSpPr>
          <p:cNvPr id="105" name="Google Shape;105;p2"/>
          <p:cNvSpPr/>
          <p:nvPr/>
        </p:nvSpPr>
        <p:spPr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Most Common Methods of Funding</a:t>
            </a:r>
            <a:endParaRPr/>
          </a:p>
        </p:txBody>
      </p:sp>
      <p:sp>
        <p:nvSpPr>
          <p:cNvPr id="111" name="Google Shape;111;p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b="1" lang="en-US"/>
              <a:t>- Banks and other loans 🡪 34.9%</a:t>
            </a:r>
            <a:endParaRPr b="1"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- Personal Savings 🡪 30%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- Friends and Family 🡪 6.3%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- Credit Cards 🡪 6.2%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b="1" lang="en-US"/>
              <a:t>- Angel Investors 🡪 5.8%</a:t>
            </a:r>
            <a:endParaRPr b="1"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b="1" lang="en-US"/>
              <a:t>- Venture Capital 🡪 4.4%</a:t>
            </a:r>
            <a:endParaRPr b="1"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Char char=" "/>
            </a:pPr>
            <a:r>
              <a:rPr b="1" lang="en-US"/>
              <a:t>- Government Related 🡪 2%</a:t>
            </a:r>
            <a:endParaRPr b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Startup Funding Sources	</a:t>
            </a:r>
            <a:endParaRPr/>
          </a:p>
        </p:txBody>
      </p:sp>
      <p:sp>
        <p:nvSpPr>
          <p:cNvPr id="117" name="Google Shape;117;p4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Bootstrapping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Crowdfunding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Incubators and accelerators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Angel Investors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Venture Capital Firms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Bank Loans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Government Programs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Bootstrapping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1097280" y="2108201"/>
            <a:ext cx="10058400" cy="3907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82880" lvl="1" marL="384048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Founding and running a company using only personal finances or operating revenue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Types of bootstrapping includes: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Owner financing 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Personal debt 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Sweat equity 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Operating costs 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Inventory minimization 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Subsidy finance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Selling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6489032" y="2065706"/>
            <a:ext cx="5399773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74930" lvl="1" marL="38404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descr="Discover Real Magic | Coca-Cola®" id="125" name="Google Shape;1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88918" y="3911438"/>
            <a:ext cx="2286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elleville Bulls Logo - Pngroyale" id="126" name="Google Shape;12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2137" y="3946151"/>
            <a:ext cx="2767543" cy="2286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e Purpose Behind a Brand Redesign | The Clorox Company" id="127" name="Google Shape;12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02336" y="4151919"/>
            <a:ext cx="3367458" cy="18744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Steps for Bootstrapping a Business/Company</a:t>
            </a:r>
            <a:endParaRPr/>
          </a:p>
        </p:txBody>
      </p:sp>
      <p:sp>
        <p:nvSpPr>
          <p:cNvPr id="133" name="Google Shape;133;p6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Beginning stage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Customer-Funded stage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Credit stage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Crowdfunding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1097280" y="2108201"/>
            <a:ext cx="7822131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Raise funds for a specific cause or project by asking a large number of people to donate money, usually in small amounts, and typically via the internet 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Two common models of crowd-funding: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Donation-based funding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Investment crowdfunding </a:t>
            </a:r>
            <a:endParaRPr/>
          </a:p>
        </p:txBody>
      </p:sp>
      <p:pic>
        <p:nvPicPr>
          <p:cNvPr descr="GoFundMe to Acquire Classy | Business Wire" id="140" name="Google Shape;14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6938" y="4295728"/>
            <a:ext cx="2634916" cy="13767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va | Brands of the World™ | Download vector logos and logotypes" id="141" name="Google Shape;14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450" y="2562272"/>
            <a:ext cx="1857375" cy="1857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ickstarter - Apps on Google Play" id="142" name="Google Shape;14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19461" y="3307662"/>
            <a:ext cx="1893044" cy="18930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"/>
          <p:cNvSpPr txBox="1"/>
          <p:nvPr/>
        </p:nvSpPr>
        <p:spPr>
          <a:xfrm>
            <a:off x="2011679" y="3008419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b="0" i="0" lang="en-US" sz="4700" u="none" cap="none" strike="noStrike">
                <a:solidFill>
                  <a:srgbClr val="3F3F3F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MARKETING IS KEY!!!!!!!!!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Incubators and Accelerators</a:t>
            </a:r>
            <a:endParaRPr/>
          </a:p>
        </p:txBody>
      </p:sp>
      <p:pic>
        <p:nvPicPr>
          <p:cNvPr descr="Venn Diagram: Definition, Types and What It's Used For ..." id="153" name="Google Shape;1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27698" y="1957318"/>
            <a:ext cx="8049752" cy="437738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9"/>
          <p:cNvSpPr txBox="1"/>
          <p:nvPr/>
        </p:nvSpPr>
        <p:spPr>
          <a:xfrm>
            <a:off x="5452362" y="3429000"/>
            <a:ext cx="1287275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Training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Mentoring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Business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support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- Selective </a:t>
            </a:r>
            <a:endParaRPr/>
          </a:p>
        </p:txBody>
      </p:sp>
      <p:sp>
        <p:nvSpPr>
          <p:cNvPr id="155" name="Google Shape;155;p9"/>
          <p:cNvSpPr txBox="1"/>
          <p:nvPr/>
        </p:nvSpPr>
        <p:spPr>
          <a:xfrm>
            <a:off x="6739625" y="2765950"/>
            <a:ext cx="1567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Accelerators</a:t>
            </a:r>
            <a:endParaRPr/>
          </a:p>
        </p:txBody>
      </p:sp>
      <p:sp>
        <p:nvSpPr>
          <p:cNvPr id="156" name="Google Shape;156;p9"/>
          <p:cNvSpPr txBox="1"/>
          <p:nvPr/>
        </p:nvSpPr>
        <p:spPr>
          <a:xfrm>
            <a:off x="3701674" y="2765950"/>
            <a:ext cx="13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Incubators</a:t>
            </a:r>
            <a:endParaRPr/>
          </a:p>
        </p:txBody>
      </p:sp>
      <p:sp>
        <p:nvSpPr>
          <p:cNvPr id="157" name="Google Shape;157;p9"/>
          <p:cNvSpPr txBox="1"/>
          <p:nvPr/>
        </p:nvSpPr>
        <p:spPr>
          <a:xfrm>
            <a:off x="2736455" y="3457074"/>
            <a:ext cx="2604624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Char char="-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Bring up startups like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children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Char char="-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No specific duration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Char char="-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Fee based</a:t>
            </a:r>
            <a:endParaRPr/>
          </a:p>
        </p:txBody>
      </p:sp>
      <p:sp>
        <p:nvSpPr>
          <p:cNvPr id="158" name="Google Shape;158;p9"/>
          <p:cNvSpPr txBox="1"/>
          <p:nvPr/>
        </p:nvSpPr>
        <p:spPr>
          <a:xfrm>
            <a:off x="6739637" y="3457074"/>
            <a:ext cx="235320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Char char="-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Help startups scale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Char char="-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Growth-based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ibre Franklin"/>
              <a:buChar char="-"/>
            </a:pP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Fixed duration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/>
          <p:nvPr>
            <p:ph type="title"/>
          </p:nvPr>
        </p:nvSpPr>
        <p:spPr>
          <a:xfrm>
            <a:off x="643466" y="1735172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lang="en-US"/>
              <a:t>Incubators</a:t>
            </a:r>
            <a:endParaRPr/>
          </a:p>
        </p:txBody>
      </p:sp>
      <p:sp>
        <p:nvSpPr>
          <p:cNvPr id="164" name="Google Shape;164;p10"/>
          <p:cNvSpPr txBox="1"/>
          <p:nvPr>
            <p:ph idx="1" type="body"/>
          </p:nvPr>
        </p:nvSpPr>
        <p:spPr>
          <a:xfrm>
            <a:off x="5458984" y="812799"/>
            <a:ext cx="3011248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Pros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Free or Low-Cost workspace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Business growth benefits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Development programs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Help in funding</a:t>
            </a: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8537286" y="812799"/>
            <a:ext cx="3011248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Cons</a:t>
            </a:r>
            <a:endParaRPr/>
          </a:p>
          <a:p>
            <a:pPr indent="-182880" lvl="1" marL="38404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Detailed application process</a:t>
            </a:r>
            <a:endParaRPr/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Long time engagement</a:t>
            </a:r>
            <a:endParaRPr/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Strict professional environment</a:t>
            </a:r>
            <a:endParaRPr/>
          </a:p>
        </p:txBody>
      </p:sp>
      <p:pic>
        <p:nvPicPr>
          <p:cNvPr descr="Startup Incubator: Choosing the Best One | Full Scale" id="166" name="Google Shape;166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3557" y="3429000"/>
            <a:ext cx="5213350" cy="304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1"/>
          <p:cNvSpPr txBox="1"/>
          <p:nvPr>
            <p:ph idx="1" type="body"/>
          </p:nvPr>
        </p:nvSpPr>
        <p:spPr>
          <a:xfrm>
            <a:off x="5458984" y="812799"/>
            <a:ext cx="5928344" cy="52947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Business opportunity or idea 🡪 Start-up teams 🡪 Connect with mentors and experts 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Validated business model 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Minimum viable product (MVP)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Application funnels of startups: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Applications (3,000)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Assessment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Interview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Evaluation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Acceptance (45-90)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</a:pPr>
            <a:r>
              <a:t/>
            </a:r>
            <a:endParaRPr/>
          </a:p>
        </p:txBody>
      </p:sp>
      <p:sp>
        <p:nvSpPr>
          <p:cNvPr id="172" name="Google Shape;172;p11"/>
          <p:cNvSpPr txBox="1"/>
          <p:nvPr>
            <p:ph type="title"/>
          </p:nvPr>
        </p:nvSpPr>
        <p:spPr>
          <a:xfrm>
            <a:off x="643466" y="195129"/>
            <a:ext cx="3517567" cy="20939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Bookman Old Style"/>
              <a:buNone/>
            </a:pPr>
            <a:r>
              <a:rPr lang="en-US"/>
              <a:t>Accelerators</a:t>
            </a:r>
            <a:endParaRPr/>
          </a:p>
        </p:txBody>
      </p:sp>
      <p:pic>
        <p:nvPicPr>
          <p:cNvPr descr="What Is A Startup Accelerator, And How Does It Work? (1)" id="173" name="Google Shape;17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578" y="3064043"/>
            <a:ext cx="4167152" cy="2325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Angel Investors </a:t>
            </a:r>
            <a:endParaRPr/>
          </a:p>
        </p:txBody>
      </p:sp>
      <p:sp>
        <p:nvSpPr>
          <p:cNvPr id="179" name="Google Shape;179;p12"/>
          <p:cNvSpPr txBox="1"/>
          <p:nvPr>
            <p:ph idx="1" type="body"/>
          </p:nvPr>
        </p:nvSpPr>
        <p:spPr>
          <a:xfrm>
            <a:off x="1097280" y="2108201"/>
            <a:ext cx="5111015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Affluent individuals who are looking to make higher then typical returns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Risky investments 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Typically in exchange for part ownership in the company 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&gt;$1,000,000 investment</a:t>
            </a:r>
            <a:endParaRPr/>
          </a:p>
        </p:txBody>
      </p:sp>
      <p:pic>
        <p:nvPicPr>
          <p:cNvPr descr="Finding Angel Investors for Your Company | Harvard Business Services" id="180" name="Google Shape;18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94834" y="2331296"/>
            <a:ext cx="476250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Venture Capital Firms </a:t>
            </a:r>
            <a:endParaRPr/>
          </a:p>
        </p:txBody>
      </p:sp>
      <p:sp>
        <p:nvSpPr>
          <p:cNvPr id="186" name="Google Shape;186;p13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Char char=" "/>
            </a:pPr>
            <a:r>
              <a:rPr lang="en-US"/>
              <a:t>Financial institutions that allow investors to invest in small businesses and startup companies with high growth potential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Char char="◦"/>
            </a:pPr>
            <a:r>
              <a:rPr lang="en-US"/>
              <a:t>Typically take 25-50%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Char char="◦"/>
            </a:pPr>
            <a:r>
              <a:rPr lang="en-US"/>
              <a:t>More technical and detail oriented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Char char="◦"/>
            </a:pPr>
            <a:r>
              <a:rPr lang="en-US"/>
              <a:t>Founder ownership stake is significantly reduced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Bank Loans </a:t>
            </a:r>
            <a:endParaRPr/>
          </a:p>
        </p:txBody>
      </p:sp>
      <p:sp>
        <p:nvSpPr>
          <p:cNvPr id="192" name="Google Shape;192;p14"/>
          <p:cNvSpPr txBox="1"/>
          <p:nvPr>
            <p:ph idx="1" type="body"/>
          </p:nvPr>
        </p:nvSpPr>
        <p:spPr>
          <a:xfrm>
            <a:off x="1097280" y="2108201"/>
            <a:ext cx="5111015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Application components when acquiring a bank loan: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Credit score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Purpose of the loan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Available collateral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Cash Flow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Financials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Business plan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Capital </a:t>
            </a:r>
            <a:endParaRPr/>
          </a:p>
        </p:txBody>
      </p:sp>
      <p:sp>
        <p:nvSpPr>
          <p:cNvPr id="193" name="Google Shape;193;p14"/>
          <p:cNvSpPr txBox="1"/>
          <p:nvPr/>
        </p:nvSpPr>
        <p:spPr>
          <a:xfrm>
            <a:off x="6232358" y="2108200"/>
            <a:ext cx="5111015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00"/>
              <a:buFont typeface="Arial"/>
              <a:buChar char="•"/>
            </a:pPr>
            <a:r>
              <a:rPr lang="en-US" sz="19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SBA 7(a) loans</a:t>
            </a:r>
            <a:endParaRPr/>
          </a:p>
          <a:p>
            <a:pPr indent="-182880" lvl="1" marL="384048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Variable: 7.75% to 10.25%</a:t>
            </a:r>
            <a:endParaRPr/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Fixed: 10.50% to 13.50%</a:t>
            </a:r>
            <a:endParaRPr/>
          </a:p>
          <a:p>
            <a:pPr indent="-7493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3F3F3F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Great personal credit score (690+)</a:t>
            </a:r>
            <a:endParaRPr/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Two or more years in business </a:t>
            </a:r>
            <a:endParaRPr/>
          </a:p>
          <a:p>
            <a:pPr indent="-182880" lvl="1" marL="384048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b="0" i="0" lang="en-US" sz="1700" u="none" cap="none" strike="noStrike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Strong annual revenue 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Government Programs</a:t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Organizations in medicine, technology development, and other related fields typically receive grants if they are a nonprofit or educational institution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Ex. Small Business Administration (SBA) microloan -- $50,000</a:t>
            </a:r>
            <a:endParaRPr/>
          </a:p>
        </p:txBody>
      </p:sp>
      <p:pic>
        <p:nvPicPr>
          <p:cNvPr descr="What Is Health Care Economics? | HBS Online"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7280" y="3588919"/>
            <a:ext cx="4656221" cy="244451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cience, Technology, and Innovation - United States Department of State" id="201" name="Google Shape;2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0117" y="3588919"/>
            <a:ext cx="4008092" cy="2473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Lassonde Studios</a:t>
            </a:r>
            <a:endParaRPr/>
          </a:p>
        </p:txBody>
      </p:sp>
      <p:sp>
        <p:nvSpPr>
          <p:cNvPr id="207" name="Google Shape;207;p16"/>
          <p:cNvSpPr txBox="1"/>
          <p:nvPr>
            <p:ph idx="1" type="body"/>
          </p:nvPr>
        </p:nvSpPr>
        <p:spPr>
          <a:xfrm>
            <a:off x="1097280" y="2108201"/>
            <a:ext cx="4998720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0650" lvl="0" marL="9144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Get Seeded 🡪 Microgrants and grants ranging from $500 - $1,500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Consist of:</a:t>
            </a:r>
            <a:endParaRPr/>
          </a:p>
          <a:p>
            <a:pPr indent="-182880" lvl="2" marL="56692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300"/>
              <a:buFont typeface="Arial"/>
              <a:buChar char="•"/>
            </a:pPr>
            <a:r>
              <a:rPr lang="en-US"/>
              <a:t>Idea, Milestone. Amount of funding. Customer validation and Competitive research</a:t>
            </a:r>
            <a:endParaRPr/>
          </a:p>
          <a:p>
            <a:pPr indent="-120650" lvl="0" marL="91440" rtl="0" algn="l">
              <a:lnSpc>
                <a:spcPct val="110000"/>
              </a:lnSpc>
              <a:spcBef>
                <a:spcPts val="1600"/>
              </a:spcBef>
              <a:spcAft>
                <a:spcPts val="0"/>
              </a:spcAft>
              <a:buSzPts val="1900"/>
              <a:buFont typeface="Arial"/>
              <a:buChar char="•"/>
            </a:pPr>
            <a:r>
              <a:rPr lang="en-US"/>
              <a:t>The Utah Entrepreneur Challenge 🡪 $60,000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Round 1: Business Model 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Round 2: Video Submission (Top 20)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3F3F3F"/>
              </a:buClr>
              <a:buSzPts val="1700"/>
              <a:buFont typeface="Arial"/>
              <a:buChar char="•"/>
            </a:pPr>
            <a:r>
              <a:rPr lang="en-US"/>
              <a:t>Round 3: Final Presentation (Top 20)</a:t>
            </a:r>
            <a:endParaRPr/>
          </a:p>
        </p:txBody>
      </p:sp>
      <p:pic>
        <p:nvPicPr>
          <p:cNvPr id="208" name="Google Shape;20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0038" y="3433164"/>
            <a:ext cx="3760720" cy="1906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7361" y="2177062"/>
            <a:ext cx="2886075" cy="1247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Elevator Pitch</a:t>
            </a:r>
            <a:endParaRPr/>
          </a:p>
        </p:txBody>
      </p:sp>
      <p:sp>
        <p:nvSpPr>
          <p:cNvPr id="215" name="Google Shape;215;p17"/>
          <p:cNvSpPr txBox="1"/>
          <p:nvPr>
            <p:ph idx="1" type="body"/>
          </p:nvPr>
        </p:nvSpPr>
        <p:spPr>
          <a:xfrm>
            <a:off x="1097280" y="2108201"/>
            <a:ext cx="5287478" cy="37608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Name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Company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Product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Target consumers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Unique selling proposition or difference from competition </a:t>
            </a:r>
            <a:endParaRPr/>
          </a:p>
          <a:p>
            <a:pPr indent="-457200" lvl="0" marL="45720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900"/>
              <a:buFont typeface="Bookman Old Style"/>
              <a:buAutoNum type="arabicPeriod"/>
            </a:pPr>
            <a:r>
              <a:rPr lang="en-US"/>
              <a:t>Call to action </a:t>
            </a:r>
            <a:endParaRPr/>
          </a:p>
        </p:txBody>
      </p:sp>
      <p:pic>
        <p:nvPicPr>
          <p:cNvPr descr="How to Create the Perfect Elevator Pitch for Your Startup Idea" id="216" name="Google Shape;2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50718" y="2651637"/>
            <a:ext cx="4813232" cy="2674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700"/>
              <a:buFont typeface="Bookman Old Style"/>
              <a:buNone/>
            </a:pPr>
            <a:r>
              <a:rPr lang="en-US"/>
              <a:t>Pitch Deck</a:t>
            </a:r>
            <a:endParaRPr/>
          </a:p>
        </p:txBody>
      </p:sp>
      <p:sp>
        <p:nvSpPr>
          <p:cNvPr id="222" name="Google Shape;222;p18"/>
          <p:cNvSpPr txBox="1"/>
          <p:nvPr>
            <p:ph idx="1" type="body"/>
          </p:nvPr>
        </p:nvSpPr>
        <p:spPr>
          <a:xfrm>
            <a:off x="2687955" y="2089151"/>
            <a:ext cx="6398895" cy="4225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n-US" sz="1300"/>
              <a:t>First communication tool used by the entrepreneur to reach out to potential investors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300"/>
              <a:buNone/>
            </a:pPr>
            <a:r>
              <a:rPr b="1" lang="en-US" sz="1300"/>
              <a:t>Pitch deck requirements 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/>
              <a:t>The problem 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/>
              <a:t>The solution 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/>
              <a:t>Product features 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/>
              <a:t>Market </a:t>
            </a:r>
            <a:endParaRPr/>
          </a:p>
          <a:p>
            <a:pPr indent="-91440" lvl="0" marL="9144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SzPts val="1300"/>
              <a:buFont typeface="Arial"/>
              <a:buChar char="•"/>
            </a:pPr>
            <a:r>
              <a:rPr lang="en-US" sz="1300"/>
              <a:t>Competitive landscape and potential risks</a:t>
            </a:r>
            <a:endParaRPr/>
          </a:p>
        </p:txBody>
      </p:sp>
      <p:sp>
        <p:nvSpPr>
          <p:cNvPr id="223" name="Google Shape;223;p18"/>
          <p:cNvSpPr txBox="1"/>
          <p:nvPr/>
        </p:nvSpPr>
        <p:spPr>
          <a:xfrm>
            <a:off x="6012180" y="2517142"/>
            <a:ext cx="6398895" cy="4225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91440" lvl="0" marL="9144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Competitive landscape and potential risks</a:t>
            </a:r>
            <a:endParaRPr/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Revenue and operating model </a:t>
            </a:r>
            <a:endParaRPr/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Traction </a:t>
            </a:r>
            <a:endParaRPr/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Projections </a:t>
            </a:r>
            <a:endParaRPr/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Team </a:t>
            </a:r>
            <a:endParaRPr/>
          </a:p>
          <a:p>
            <a:pPr indent="-91440" lvl="0" marL="91440" marR="0" rtl="0" algn="l">
              <a:lnSpc>
                <a:spcPct val="110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Arial"/>
              <a:buChar char="•"/>
            </a:pPr>
            <a:r>
              <a:rPr lang="en-US" sz="1300">
                <a:solidFill>
                  <a:srgbClr val="3F3F3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Fundraise</a:t>
            </a:r>
            <a:endParaRPr/>
          </a:p>
        </p:txBody>
      </p:sp>
      <p:sp>
        <p:nvSpPr>
          <p:cNvPr id="224" name="Google Shape;224;p18"/>
          <p:cNvSpPr txBox="1"/>
          <p:nvPr/>
        </p:nvSpPr>
        <p:spPr>
          <a:xfrm>
            <a:off x="2409825" y="5486400"/>
            <a:ext cx="58977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https://slidebean.com/blog/startups-pitch-deck-examples</a:t>
            </a:r>
            <a:r>
              <a:rPr lang="en-US"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2022-11-01T03:38:22Z</dcterms:created>
  <dc:creator>Gaurav Mishra</dc:creator>
</cp:coreProperties>
</file>