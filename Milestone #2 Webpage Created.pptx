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League Spartan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iVZKLjyC8WIjs1SpYFyPelrmZf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eagueSpartan-bold.fntdata"/><Relationship Id="rId16" Type="http://schemas.openxmlformats.org/officeDocument/2006/relationships/font" Target="fonts/LeagueSpartan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85556" y="454609"/>
            <a:ext cx="17316887" cy="937778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8556216" y="3485222"/>
            <a:ext cx="1175568" cy="1376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13281197" y="8257518"/>
            <a:ext cx="4406946" cy="1391964"/>
          </a:xfrm>
          <a:custGeom>
            <a:rect b="b" l="l" r="r" t="t"/>
            <a:pathLst>
              <a:path extrusionOk="0" h="1391964" w="4406946">
                <a:moveTo>
                  <a:pt x="0" y="0"/>
                </a:moveTo>
                <a:lnTo>
                  <a:pt x="4406947" y="0"/>
                </a:lnTo>
                <a:lnTo>
                  <a:pt x="4406947" y="1391964"/>
                </a:lnTo>
                <a:lnTo>
                  <a:pt x="0" y="1391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1028700" y="1725044"/>
            <a:ext cx="16230600" cy="1203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Milestone #2: Webpage Created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8618292"/>
            <a:ext cx="4321082" cy="29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Gaurav Mishra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5710328" y="4935884"/>
            <a:ext cx="6867343" cy="4200525"/>
          </a:xfrm>
          <a:custGeom>
            <a:rect b="b" l="l" r="r" t="t"/>
            <a:pathLst>
              <a:path extrusionOk="0" h="4200525" w="6867343">
                <a:moveTo>
                  <a:pt x="0" y="0"/>
                </a:moveTo>
                <a:lnTo>
                  <a:pt x="6867344" y="0"/>
                </a:lnTo>
                <a:lnTo>
                  <a:pt x="6867344" y="4200525"/>
                </a:lnTo>
                <a:lnTo>
                  <a:pt x="0" y="4200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485556" y="454609"/>
            <a:ext cx="17316887" cy="937778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1028700" y="3886200"/>
            <a:ext cx="6949700" cy="1003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9472784" y="2542152"/>
            <a:ext cx="7786516" cy="386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Establish online presence and reach a wider audience 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8676330" y="2580252"/>
            <a:ext cx="467670" cy="38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1028700" y="6457950"/>
            <a:ext cx="1175568" cy="1376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9472784" y="4271893"/>
            <a:ext cx="7786516" cy="118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Showcasing products and services, building brand awareness, attracting potential customers, and providing information about the business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9472784" y="6469629"/>
            <a:ext cx="7786516" cy="386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Establish credibility and professionalism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8676330" y="4329043"/>
            <a:ext cx="467670" cy="38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8676330" y="6517254"/>
            <a:ext cx="467670" cy="38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13281197" y="8257518"/>
            <a:ext cx="4406946" cy="1391964"/>
          </a:xfrm>
          <a:custGeom>
            <a:rect b="b" l="l" r="r" t="t"/>
            <a:pathLst>
              <a:path extrusionOk="0" h="1391964" w="4406946">
                <a:moveTo>
                  <a:pt x="0" y="0"/>
                </a:moveTo>
                <a:lnTo>
                  <a:pt x="4406947" y="0"/>
                </a:lnTo>
                <a:lnTo>
                  <a:pt x="4406947" y="1391964"/>
                </a:lnTo>
                <a:lnTo>
                  <a:pt x="0" y="1391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485556" y="454609"/>
            <a:ext cx="17316887" cy="937778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1028700" y="1207929"/>
            <a:ext cx="16230600" cy="1203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Webpage Creation Roadmap</a:t>
            </a:r>
            <a:endParaRPr/>
          </a:p>
        </p:txBody>
      </p:sp>
      <p:cxnSp>
        <p:nvCxnSpPr>
          <p:cNvPr id="110" name="Google Shape;110;p3"/>
          <p:cNvCxnSpPr/>
          <p:nvPr/>
        </p:nvCxnSpPr>
        <p:spPr>
          <a:xfrm>
            <a:off x="1028700" y="7957886"/>
            <a:ext cx="16230600" cy="0"/>
          </a:xfrm>
          <a:prstGeom prst="straightConnector1">
            <a:avLst/>
          </a:prstGeom>
          <a:noFill/>
          <a:ln cap="rnd" cmpd="sng" w="4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3"/>
          <p:cNvCxnSpPr/>
          <p:nvPr/>
        </p:nvCxnSpPr>
        <p:spPr>
          <a:xfrm>
            <a:off x="1028700" y="7266797"/>
            <a:ext cx="16230600" cy="0"/>
          </a:xfrm>
          <a:prstGeom prst="straightConnector1">
            <a:avLst/>
          </a:prstGeom>
          <a:noFill/>
          <a:ln cap="rnd" cmpd="sng" w="28575">
            <a:solidFill>
              <a:srgbClr val="A6A6A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2" name="Google Shape;112;p3"/>
          <p:cNvCxnSpPr/>
          <p:nvPr/>
        </p:nvCxnSpPr>
        <p:spPr>
          <a:xfrm>
            <a:off x="1028700" y="6575709"/>
            <a:ext cx="16230600" cy="0"/>
          </a:xfrm>
          <a:prstGeom prst="straightConnector1">
            <a:avLst/>
          </a:prstGeom>
          <a:noFill/>
          <a:ln cap="rnd" cmpd="sng" w="28575">
            <a:solidFill>
              <a:srgbClr val="A6A6A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3" name="Google Shape;113;p3"/>
          <p:cNvCxnSpPr/>
          <p:nvPr/>
        </p:nvCxnSpPr>
        <p:spPr>
          <a:xfrm>
            <a:off x="1028700" y="5884620"/>
            <a:ext cx="16230600" cy="0"/>
          </a:xfrm>
          <a:prstGeom prst="straightConnector1">
            <a:avLst/>
          </a:prstGeom>
          <a:noFill/>
          <a:ln cap="rnd" cmpd="sng" w="28575">
            <a:solidFill>
              <a:srgbClr val="A6A6A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4" name="Google Shape;114;p3"/>
          <p:cNvCxnSpPr/>
          <p:nvPr/>
        </p:nvCxnSpPr>
        <p:spPr>
          <a:xfrm>
            <a:off x="1028700" y="5193531"/>
            <a:ext cx="16230600" cy="0"/>
          </a:xfrm>
          <a:prstGeom prst="straightConnector1">
            <a:avLst/>
          </a:prstGeom>
          <a:noFill/>
          <a:ln cap="rnd" cmpd="sng" w="28575">
            <a:solidFill>
              <a:srgbClr val="A6A6A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28700" y="4502443"/>
            <a:ext cx="16230600" cy="0"/>
          </a:xfrm>
          <a:prstGeom prst="straightConnector1">
            <a:avLst/>
          </a:prstGeom>
          <a:noFill/>
          <a:ln cap="rnd" cmpd="sng" w="28575">
            <a:solidFill>
              <a:srgbClr val="A6A6A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" name="Google Shape;116;p3"/>
          <p:cNvCxnSpPr/>
          <p:nvPr/>
        </p:nvCxnSpPr>
        <p:spPr>
          <a:xfrm>
            <a:off x="1028700" y="3811354"/>
            <a:ext cx="16230600" cy="0"/>
          </a:xfrm>
          <a:prstGeom prst="straightConnector1">
            <a:avLst/>
          </a:prstGeom>
          <a:noFill/>
          <a:ln cap="rnd" cmpd="sng" w="28575">
            <a:solidFill>
              <a:srgbClr val="A6A6A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7" name="Google Shape;117;p3"/>
          <p:cNvCxnSpPr/>
          <p:nvPr/>
        </p:nvCxnSpPr>
        <p:spPr>
          <a:xfrm>
            <a:off x="1028700" y="3477979"/>
            <a:ext cx="3250736" cy="0"/>
          </a:xfrm>
          <a:prstGeom prst="straightConnector1">
            <a:avLst/>
          </a:prstGeom>
          <a:noFill/>
          <a:ln cap="rnd" cmpd="sng" w="666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3"/>
          <p:cNvCxnSpPr/>
          <p:nvPr/>
        </p:nvCxnSpPr>
        <p:spPr>
          <a:xfrm>
            <a:off x="2695071" y="4174783"/>
            <a:ext cx="4381689" cy="0"/>
          </a:xfrm>
          <a:prstGeom prst="straightConnector1">
            <a:avLst/>
          </a:prstGeom>
          <a:noFill/>
          <a:ln cap="rnd" cmpd="sng" w="666750">
            <a:solidFill>
              <a:srgbClr val="54545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3"/>
          <p:cNvCxnSpPr/>
          <p:nvPr/>
        </p:nvCxnSpPr>
        <p:spPr>
          <a:xfrm>
            <a:off x="4073231" y="4871586"/>
            <a:ext cx="5759849" cy="0"/>
          </a:xfrm>
          <a:prstGeom prst="straightConnector1">
            <a:avLst/>
          </a:prstGeom>
          <a:noFill/>
          <a:ln cap="rnd" cmpd="sng" w="666750">
            <a:solidFill>
              <a:srgbClr val="7373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3"/>
          <p:cNvCxnSpPr/>
          <p:nvPr/>
        </p:nvCxnSpPr>
        <p:spPr>
          <a:xfrm>
            <a:off x="5451392" y="5568390"/>
            <a:ext cx="7138009" cy="0"/>
          </a:xfrm>
          <a:prstGeom prst="straightConnector1">
            <a:avLst/>
          </a:prstGeom>
          <a:noFill/>
          <a:ln cap="rnd" cmpd="sng" w="666750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3"/>
          <p:cNvCxnSpPr/>
          <p:nvPr/>
        </p:nvCxnSpPr>
        <p:spPr>
          <a:xfrm>
            <a:off x="8743131" y="6265194"/>
            <a:ext cx="5759849" cy="0"/>
          </a:xfrm>
          <a:prstGeom prst="straightConnector1">
            <a:avLst/>
          </a:prstGeom>
          <a:noFill/>
          <a:ln cap="rnd" cmpd="sng" w="6667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3"/>
          <p:cNvCxnSpPr/>
          <p:nvPr/>
        </p:nvCxnSpPr>
        <p:spPr>
          <a:xfrm>
            <a:off x="12589400" y="6961997"/>
            <a:ext cx="4669900" cy="0"/>
          </a:xfrm>
          <a:prstGeom prst="straightConnector1">
            <a:avLst/>
          </a:prstGeom>
          <a:noFill/>
          <a:ln cap="rnd" cmpd="sng" w="666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3"/>
          <p:cNvSpPr txBox="1"/>
          <p:nvPr/>
        </p:nvSpPr>
        <p:spPr>
          <a:xfrm>
            <a:off x="1226439" y="3295111"/>
            <a:ext cx="285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Purpose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2695071" y="4301501"/>
            <a:ext cx="4381689" cy="36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4762311" y="4998305"/>
            <a:ext cx="4381689" cy="36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Content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6829552" y="5695109"/>
            <a:ext cx="4381689" cy="36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User Experience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9432211" y="6391912"/>
            <a:ext cx="4381689" cy="36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Search Enginge Optimization 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12733506" y="7088716"/>
            <a:ext cx="4381689" cy="365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Call to Action (CTA)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13281197" y="8257518"/>
            <a:ext cx="4406946" cy="1391964"/>
          </a:xfrm>
          <a:custGeom>
            <a:rect b="b" l="l" r="r" t="t"/>
            <a:pathLst>
              <a:path extrusionOk="0" h="1391964" w="4406946">
                <a:moveTo>
                  <a:pt x="0" y="0"/>
                </a:moveTo>
                <a:lnTo>
                  <a:pt x="4406947" y="0"/>
                </a:lnTo>
                <a:lnTo>
                  <a:pt x="4406947" y="1391964"/>
                </a:lnTo>
                <a:lnTo>
                  <a:pt x="0" y="1391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485556" y="454609"/>
            <a:ext cx="17316887" cy="937778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1028700" y="3003614"/>
            <a:ext cx="1175568" cy="1376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1333480" y="5231661"/>
            <a:ext cx="3452308" cy="2297690"/>
          </a:xfrm>
          <a:custGeom>
            <a:rect b="b" l="l" r="r" t="t"/>
            <a:pathLst>
              <a:path extrusionOk="0" h="2297690" w="3452308">
                <a:moveTo>
                  <a:pt x="0" y="0"/>
                </a:moveTo>
                <a:lnTo>
                  <a:pt x="3452308" y="0"/>
                </a:lnTo>
                <a:lnTo>
                  <a:pt x="3452308" y="2297690"/>
                </a:lnTo>
                <a:lnTo>
                  <a:pt x="0" y="2297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>
            <a:off x="7109888" y="4901992"/>
            <a:ext cx="2868866" cy="2868866"/>
          </a:xfrm>
          <a:custGeom>
            <a:rect b="b" l="l" r="r" t="t"/>
            <a:pathLst>
              <a:path extrusionOk="0" h="2868866" w="2868866">
                <a:moveTo>
                  <a:pt x="0" y="0"/>
                </a:moveTo>
                <a:lnTo>
                  <a:pt x="2868866" y="0"/>
                </a:lnTo>
                <a:lnTo>
                  <a:pt x="2868866" y="2868867"/>
                </a:lnTo>
                <a:lnTo>
                  <a:pt x="0" y="28688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4"/>
          <p:cNvSpPr/>
          <p:nvPr/>
        </p:nvSpPr>
        <p:spPr>
          <a:xfrm>
            <a:off x="12299757" y="5143500"/>
            <a:ext cx="4337910" cy="2385851"/>
          </a:xfrm>
          <a:custGeom>
            <a:rect b="b" l="l" r="r" t="t"/>
            <a:pathLst>
              <a:path extrusionOk="0" h="2385851" w="4337910">
                <a:moveTo>
                  <a:pt x="0" y="0"/>
                </a:moveTo>
                <a:lnTo>
                  <a:pt x="4337910" y="0"/>
                </a:lnTo>
                <a:lnTo>
                  <a:pt x="4337910" y="2385851"/>
                </a:lnTo>
                <a:lnTo>
                  <a:pt x="0" y="2385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 txBox="1"/>
          <p:nvPr/>
        </p:nvSpPr>
        <p:spPr>
          <a:xfrm>
            <a:off x="1028700" y="1572645"/>
            <a:ext cx="14726713" cy="1003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Purpose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1028700" y="3645752"/>
            <a:ext cx="4959543" cy="772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Focuses the Website's Design and Content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6664228" y="3840987"/>
            <a:ext cx="4959543" cy="382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Supports Business Objectives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12299757" y="3645752"/>
            <a:ext cx="4959543" cy="772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Provides a basis for measuring success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13281197" y="8257518"/>
            <a:ext cx="4406946" cy="1391964"/>
          </a:xfrm>
          <a:custGeom>
            <a:rect b="b" l="l" r="r" t="t"/>
            <a:pathLst>
              <a:path extrusionOk="0" h="1391964" w="4406946">
                <a:moveTo>
                  <a:pt x="0" y="0"/>
                </a:moveTo>
                <a:lnTo>
                  <a:pt x="4406947" y="0"/>
                </a:lnTo>
                <a:lnTo>
                  <a:pt x="4406947" y="1391964"/>
                </a:lnTo>
                <a:lnTo>
                  <a:pt x="0" y="1391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485556" y="473659"/>
            <a:ext cx="17316887" cy="937778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830588" y="2527735"/>
            <a:ext cx="8552911" cy="5231531"/>
          </a:xfrm>
          <a:custGeom>
            <a:rect b="b" l="l" r="r" t="t"/>
            <a:pathLst>
              <a:path extrusionOk="0" h="5231531" w="8552911">
                <a:moveTo>
                  <a:pt x="0" y="0"/>
                </a:moveTo>
                <a:lnTo>
                  <a:pt x="8552911" y="0"/>
                </a:lnTo>
                <a:lnTo>
                  <a:pt x="8552911" y="5231530"/>
                </a:lnTo>
                <a:lnTo>
                  <a:pt x="0" y="5231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5"/>
          <p:cNvSpPr txBox="1"/>
          <p:nvPr/>
        </p:nvSpPr>
        <p:spPr>
          <a:xfrm>
            <a:off x="1028700" y="3457882"/>
            <a:ext cx="3801888" cy="1193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1028700" y="5095875"/>
            <a:ext cx="3801888" cy="701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user experience and brand image gets affected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14138398" y="2412295"/>
            <a:ext cx="3120902" cy="349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 schemes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4138398" y="4453255"/>
            <a:ext cx="3120902" cy="349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14138398" y="6494215"/>
            <a:ext cx="3120902" cy="349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Interactivity 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13383499" y="4472305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13383499" y="2431345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13383499" y="6513265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  <a:endParaRPr/>
          </a:p>
        </p:txBody>
      </p:sp>
      <p:grpSp>
        <p:nvGrpSpPr>
          <p:cNvPr id="158" name="Google Shape;158;p5"/>
          <p:cNvGrpSpPr/>
          <p:nvPr/>
        </p:nvGrpSpPr>
        <p:grpSpPr>
          <a:xfrm>
            <a:off x="1028700" y="8907589"/>
            <a:ext cx="268055" cy="350711"/>
            <a:chOff x="0" y="1"/>
            <a:chExt cx="357406" cy="467614"/>
          </a:xfrm>
        </p:grpSpPr>
        <p:sp>
          <p:nvSpPr>
            <p:cNvPr id="159" name="Google Shape;159;p5"/>
            <p:cNvSpPr/>
            <p:nvPr/>
          </p:nvSpPr>
          <p:spPr>
            <a:xfrm rot="-5400000">
              <a:off x="40597" y="150806"/>
              <a:ext cx="467614" cy="166003"/>
            </a:xfrm>
            <a:custGeom>
              <a:rect b="b" l="l" r="r" t="t"/>
              <a:pathLst>
                <a:path extrusionOk="0" h="166003" w="467614">
                  <a:moveTo>
                    <a:pt x="0" y="0"/>
                  </a:moveTo>
                  <a:lnTo>
                    <a:pt x="467615" y="0"/>
                  </a:lnTo>
                  <a:lnTo>
                    <a:pt x="467615" y="166003"/>
                  </a:lnTo>
                  <a:lnTo>
                    <a:pt x="0" y="1660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 rot="-5400000">
              <a:off x="-150806" y="150806"/>
              <a:ext cx="467614" cy="166003"/>
            </a:xfrm>
            <a:custGeom>
              <a:rect b="b" l="l" r="r" t="t"/>
              <a:pathLst>
                <a:path extrusionOk="0" h="166003" w="467614">
                  <a:moveTo>
                    <a:pt x="0" y="0"/>
                  </a:moveTo>
                  <a:lnTo>
                    <a:pt x="467615" y="0"/>
                  </a:lnTo>
                  <a:lnTo>
                    <a:pt x="467615" y="166003"/>
                  </a:lnTo>
                  <a:lnTo>
                    <a:pt x="0" y="1660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61" name="Google Shape;161;p5"/>
          <p:cNvSpPr/>
          <p:nvPr/>
        </p:nvSpPr>
        <p:spPr>
          <a:xfrm>
            <a:off x="13281197" y="8257518"/>
            <a:ext cx="4406946" cy="1391964"/>
          </a:xfrm>
          <a:custGeom>
            <a:rect b="b" l="l" r="r" t="t"/>
            <a:pathLst>
              <a:path extrusionOk="0" h="1391964" w="4406946">
                <a:moveTo>
                  <a:pt x="0" y="0"/>
                </a:moveTo>
                <a:lnTo>
                  <a:pt x="4406947" y="0"/>
                </a:lnTo>
                <a:lnTo>
                  <a:pt x="4406947" y="1391964"/>
                </a:lnTo>
                <a:lnTo>
                  <a:pt x="0" y="1391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485556" y="434289"/>
            <a:ext cx="17316887" cy="937778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6"/>
          <p:cNvGrpSpPr/>
          <p:nvPr/>
        </p:nvGrpSpPr>
        <p:grpSpPr>
          <a:xfrm>
            <a:off x="1028700" y="8907589"/>
            <a:ext cx="268055" cy="350711"/>
            <a:chOff x="0" y="1"/>
            <a:chExt cx="357406" cy="467614"/>
          </a:xfrm>
        </p:grpSpPr>
        <p:sp>
          <p:nvSpPr>
            <p:cNvPr id="168" name="Google Shape;168;p6"/>
            <p:cNvSpPr/>
            <p:nvPr/>
          </p:nvSpPr>
          <p:spPr>
            <a:xfrm rot="-5400000">
              <a:off x="40597" y="150806"/>
              <a:ext cx="467614" cy="166003"/>
            </a:xfrm>
            <a:custGeom>
              <a:rect b="b" l="l" r="r" t="t"/>
              <a:pathLst>
                <a:path extrusionOk="0" h="166003" w="467614">
                  <a:moveTo>
                    <a:pt x="0" y="0"/>
                  </a:moveTo>
                  <a:lnTo>
                    <a:pt x="467615" y="0"/>
                  </a:lnTo>
                  <a:lnTo>
                    <a:pt x="467615" y="166003"/>
                  </a:lnTo>
                  <a:lnTo>
                    <a:pt x="0" y="1660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9" name="Google Shape;169;p6"/>
            <p:cNvSpPr/>
            <p:nvPr/>
          </p:nvSpPr>
          <p:spPr>
            <a:xfrm rot="-5400000">
              <a:off x="-150806" y="150806"/>
              <a:ext cx="467614" cy="166003"/>
            </a:xfrm>
            <a:custGeom>
              <a:rect b="b" l="l" r="r" t="t"/>
              <a:pathLst>
                <a:path extrusionOk="0" h="166003" w="467614">
                  <a:moveTo>
                    <a:pt x="0" y="0"/>
                  </a:moveTo>
                  <a:lnTo>
                    <a:pt x="467615" y="0"/>
                  </a:lnTo>
                  <a:lnTo>
                    <a:pt x="467615" y="166003"/>
                  </a:lnTo>
                  <a:lnTo>
                    <a:pt x="0" y="1660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70" name="Google Shape;170;p6"/>
          <p:cNvSpPr txBox="1"/>
          <p:nvPr/>
        </p:nvSpPr>
        <p:spPr>
          <a:xfrm>
            <a:off x="3368653" y="1579166"/>
            <a:ext cx="10175551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Content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6299151" y="3144441"/>
            <a:ext cx="4314555" cy="701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Must resonate with the target  audience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4346695" y="4754880"/>
            <a:ext cx="3120902" cy="701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 your target audience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4346695" y="7136835"/>
            <a:ext cx="3120902" cy="701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it simple and easy-to-understand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11110874" y="4794268"/>
            <a:ext cx="3120902" cy="349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storytelling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3588554" y="7136835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10379871" y="4754880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3588554" y="4773930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11110874" y="7136835"/>
            <a:ext cx="3120902" cy="701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 for search engines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10379871" y="7162217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13281197" y="8257518"/>
            <a:ext cx="4406946" cy="1391964"/>
          </a:xfrm>
          <a:custGeom>
            <a:rect b="b" l="l" r="r" t="t"/>
            <a:pathLst>
              <a:path extrusionOk="0" h="1391964" w="4406946">
                <a:moveTo>
                  <a:pt x="0" y="0"/>
                </a:moveTo>
                <a:lnTo>
                  <a:pt x="4406947" y="0"/>
                </a:lnTo>
                <a:lnTo>
                  <a:pt x="4406947" y="1391964"/>
                </a:lnTo>
                <a:lnTo>
                  <a:pt x="0" y="1391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485556" y="473659"/>
            <a:ext cx="17316887" cy="937778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6523979" y="1230408"/>
            <a:ext cx="5240042" cy="8601983"/>
          </a:xfrm>
          <a:custGeom>
            <a:rect b="b" l="l" r="r" t="t"/>
            <a:pathLst>
              <a:path extrusionOk="0" h="8601983" w="5240042">
                <a:moveTo>
                  <a:pt x="0" y="0"/>
                </a:moveTo>
                <a:lnTo>
                  <a:pt x="5240042" y="0"/>
                </a:lnTo>
                <a:lnTo>
                  <a:pt x="5240042" y="8601983"/>
                </a:lnTo>
                <a:lnTo>
                  <a:pt x="0" y="8601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7" name="Google Shape;187;p7"/>
          <p:cNvGrpSpPr/>
          <p:nvPr/>
        </p:nvGrpSpPr>
        <p:grpSpPr>
          <a:xfrm>
            <a:off x="1028700" y="8907589"/>
            <a:ext cx="268055" cy="350711"/>
            <a:chOff x="0" y="1"/>
            <a:chExt cx="357406" cy="467614"/>
          </a:xfrm>
        </p:grpSpPr>
        <p:sp>
          <p:nvSpPr>
            <p:cNvPr id="188" name="Google Shape;188;p7"/>
            <p:cNvSpPr/>
            <p:nvPr/>
          </p:nvSpPr>
          <p:spPr>
            <a:xfrm rot="-5400000">
              <a:off x="40597" y="150806"/>
              <a:ext cx="467614" cy="166003"/>
            </a:xfrm>
            <a:custGeom>
              <a:rect b="b" l="l" r="r" t="t"/>
              <a:pathLst>
                <a:path extrusionOk="0" h="166003" w="467614">
                  <a:moveTo>
                    <a:pt x="0" y="0"/>
                  </a:moveTo>
                  <a:lnTo>
                    <a:pt x="467615" y="0"/>
                  </a:lnTo>
                  <a:lnTo>
                    <a:pt x="467615" y="166003"/>
                  </a:lnTo>
                  <a:lnTo>
                    <a:pt x="0" y="1660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9" name="Google Shape;189;p7"/>
            <p:cNvSpPr/>
            <p:nvPr/>
          </p:nvSpPr>
          <p:spPr>
            <a:xfrm rot="-5400000">
              <a:off x="-150806" y="150806"/>
              <a:ext cx="467614" cy="166003"/>
            </a:xfrm>
            <a:custGeom>
              <a:rect b="b" l="l" r="r" t="t"/>
              <a:pathLst>
                <a:path extrusionOk="0" h="166003" w="467614">
                  <a:moveTo>
                    <a:pt x="0" y="0"/>
                  </a:moveTo>
                  <a:lnTo>
                    <a:pt x="467615" y="0"/>
                  </a:lnTo>
                  <a:lnTo>
                    <a:pt x="467615" y="166003"/>
                  </a:lnTo>
                  <a:lnTo>
                    <a:pt x="0" y="1660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90" name="Google Shape;190;p7"/>
          <p:cNvSpPr txBox="1"/>
          <p:nvPr/>
        </p:nvSpPr>
        <p:spPr>
          <a:xfrm>
            <a:off x="1028700" y="2521268"/>
            <a:ext cx="5495279" cy="243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User Experience</a:t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1028700" y="5095875"/>
            <a:ext cx="5495279" cy="1054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overall experience that a person has when using a website. This should meet  the user's needs and expectations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12517441" y="2412295"/>
            <a:ext cx="4098408" cy="701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clear navigation structure</a:t>
            </a:r>
            <a:endParaRPr/>
          </a:p>
        </p:txBody>
      </p:sp>
      <p:sp>
        <p:nvSpPr>
          <p:cNvPr id="193" name="Google Shape;193;p7"/>
          <p:cNvSpPr txBox="1"/>
          <p:nvPr/>
        </p:nvSpPr>
        <p:spPr>
          <a:xfrm>
            <a:off x="12517441" y="4453255"/>
            <a:ext cx="4098408" cy="349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the website responsive </a:t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12517441" y="6494215"/>
            <a:ext cx="4098408" cy="349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user testing</a:t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11764021" y="4472305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11764021" y="2431345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11764021" y="6513265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13281197" y="8257518"/>
            <a:ext cx="4406946" cy="1391964"/>
          </a:xfrm>
          <a:custGeom>
            <a:rect b="b" l="l" r="r" t="t"/>
            <a:pathLst>
              <a:path extrusionOk="0" h="1391964" w="4406946">
                <a:moveTo>
                  <a:pt x="0" y="0"/>
                </a:moveTo>
                <a:lnTo>
                  <a:pt x="4406947" y="0"/>
                </a:lnTo>
                <a:lnTo>
                  <a:pt x="4406947" y="1391964"/>
                </a:lnTo>
                <a:lnTo>
                  <a:pt x="0" y="1391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485556" y="473659"/>
            <a:ext cx="17316887" cy="937778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331700" y="1306783"/>
            <a:ext cx="5624600" cy="7711534"/>
          </a:xfrm>
          <a:custGeom>
            <a:rect b="b" l="l" r="r" t="t"/>
            <a:pathLst>
              <a:path extrusionOk="0" h="7711534" w="5624600">
                <a:moveTo>
                  <a:pt x="0" y="0"/>
                </a:moveTo>
                <a:lnTo>
                  <a:pt x="5624600" y="0"/>
                </a:lnTo>
                <a:lnTo>
                  <a:pt x="5624600" y="7711534"/>
                </a:lnTo>
                <a:lnTo>
                  <a:pt x="0" y="7711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8"/>
          <p:cNvSpPr txBox="1"/>
          <p:nvPr/>
        </p:nvSpPr>
        <p:spPr>
          <a:xfrm>
            <a:off x="1028700" y="1772113"/>
            <a:ext cx="3988719" cy="3181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Search Engine Optimization (SEO)</a:t>
            </a:r>
            <a:endParaRPr/>
          </a:p>
        </p:txBody>
      </p:sp>
      <p:sp>
        <p:nvSpPr>
          <p:cNvPr id="206" name="Google Shape;206;p8"/>
          <p:cNvSpPr txBox="1"/>
          <p:nvPr/>
        </p:nvSpPr>
        <p:spPr>
          <a:xfrm>
            <a:off x="1028700" y="5095875"/>
            <a:ext cx="3988719" cy="1406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Optimizing a website to improve its visibility and ranking in search engine results pages for relevant keywords</a:t>
            </a:r>
            <a:endParaRPr/>
          </a:p>
        </p:txBody>
      </p:sp>
      <p:sp>
        <p:nvSpPr>
          <p:cNvPr id="207" name="Google Shape;207;p8"/>
          <p:cNvSpPr txBox="1"/>
          <p:nvPr/>
        </p:nvSpPr>
        <p:spPr>
          <a:xfrm>
            <a:off x="13818554" y="2412295"/>
            <a:ext cx="3120902" cy="701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Specific Audiences</a:t>
            </a:r>
            <a:endParaRPr/>
          </a:p>
        </p:txBody>
      </p:sp>
      <p:sp>
        <p:nvSpPr>
          <p:cNvPr id="208" name="Google Shape;208;p8"/>
          <p:cNvSpPr txBox="1"/>
          <p:nvPr/>
        </p:nvSpPr>
        <p:spPr>
          <a:xfrm>
            <a:off x="13818554" y="4453255"/>
            <a:ext cx="3120902" cy="701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 for Local Searches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13818554" y="6494215"/>
            <a:ext cx="3120902" cy="349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Social Media</a:t>
            </a:r>
            <a:endParaRPr/>
          </a:p>
        </p:txBody>
      </p:sp>
      <p:sp>
        <p:nvSpPr>
          <p:cNvPr id="210" name="Google Shape;210;p8"/>
          <p:cNvSpPr txBox="1"/>
          <p:nvPr/>
        </p:nvSpPr>
        <p:spPr>
          <a:xfrm>
            <a:off x="13063655" y="4472305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  <a:endParaRPr/>
          </a:p>
        </p:txBody>
      </p:sp>
      <p:sp>
        <p:nvSpPr>
          <p:cNvPr id="211" name="Google Shape;211;p8"/>
          <p:cNvSpPr txBox="1"/>
          <p:nvPr/>
        </p:nvSpPr>
        <p:spPr>
          <a:xfrm>
            <a:off x="13063655" y="2431345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13063655" y="6513265"/>
            <a:ext cx="46767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  <a:endParaRPr/>
          </a:p>
        </p:txBody>
      </p:sp>
      <p:grpSp>
        <p:nvGrpSpPr>
          <p:cNvPr id="213" name="Google Shape;213;p8"/>
          <p:cNvGrpSpPr/>
          <p:nvPr/>
        </p:nvGrpSpPr>
        <p:grpSpPr>
          <a:xfrm>
            <a:off x="1028700" y="8907589"/>
            <a:ext cx="268055" cy="350711"/>
            <a:chOff x="0" y="1"/>
            <a:chExt cx="357406" cy="467614"/>
          </a:xfrm>
        </p:grpSpPr>
        <p:sp>
          <p:nvSpPr>
            <p:cNvPr id="214" name="Google Shape;214;p8"/>
            <p:cNvSpPr/>
            <p:nvPr/>
          </p:nvSpPr>
          <p:spPr>
            <a:xfrm rot="-5400000">
              <a:off x="40597" y="150806"/>
              <a:ext cx="467614" cy="166003"/>
            </a:xfrm>
            <a:custGeom>
              <a:rect b="b" l="l" r="r" t="t"/>
              <a:pathLst>
                <a:path extrusionOk="0" h="166003" w="467614">
                  <a:moveTo>
                    <a:pt x="0" y="0"/>
                  </a:moveTo>
                  <a:lnTo>
                    <a:pt x="467615" y="0"/>
                  </a:lnTo>
                  <a:lnTo>
                    <a:pt x="467615" y="166003"/>
                  </a:lnTo>
                  <a:lnTo>
                    <a:pt x="0" y="1660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5" name="Google Shape;215;p8"/>
            <p:cNvSpPr/>
            <p:nvPr/>
          </p:nvSpPr>
          <p:spPr>
            <a:xfrm rot="-5400000">
              <a:off x="-150806" y="150806"/>
              <a:ext cx="467614" cy="166003"/>
            </a:xfrm>
            <a:custGeom>
              <a:rect b="b" l="l" r="r" t="t"/>
              <a:pathLst>
                <a:path extrusionOk="0" h="166003" w="467614">
                  <a:moveTo>
                    <a:pt x="0" y="0"/>
                  </a:moveTo>
                  <a:lnTo>
                    <a:pt x="467615" y="0"/>
                  </a:lnTo>
                  <a:lnTo>
                    <a:pt x="467615" y="166003"/>
                  </a:lnTo>
                  <a:lnTo>
                    <a:pt x="0" y="1660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16" name="Google Shape;216;p8"/>
          <p:cNvSpPr/>
          <p:nvPr/>
        </p:nvSpPr>
        <p:spPr>
          <a:xfrm>
            <a:off x="13281197" y="8257518"/>
            <a:ext cx="4406946" cy="1391964"/>
          </a:xfrm>
          <a:custGeom>
            <a:rect b="b" l="l" r="r" t="t"/>
            <a:pathLst>
              <a:path extrusionOk="0" h="1391964" w="4406946">
                <a:moveTo>
                  <a:pt x="0" y="0"/>
                </a:moveTo>
                <a:lnTo>
                  <a:pt x="4406947" y="0"/>
                </a:lnTo>
                <a:lnTo>
                  <a:pt x="4406947" y="1391964"/>
                </a:lnTo>
                <a:lnTo>
                  <a:pt x="0" y="1391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>
            <a:off x="485556" y="454609"/>
            <a:ext cx="17316887" cy="937778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8556216" y="3485222"/>
            <a:ext cx="1175568" cy="1376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4192552" y="4634408"/>
            <a:ext cx="5807134" cy="3552030"/>
          </a:xfrm>
          <a:custGeom>
            <a:rect b="b" l="l" r="r" t="t"/>
            <a:pathLst>
              <a:path extrusionOk="0" h="3552030" w="5807134">
                <a:moveTo>
                  <a:pt x="0" y="0"/>
                </a:moveTo>
                <a:lnTo>
                  <a:pt x="5807134" y="0"/>
                </a:lnTo>
                <a:lnTo>
                  <a:pt x="5807134" y="3552031"/>
                </a:lnTo>
                <a:lnTo>
                  <a:pt x="0" y="35520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9"/>
          <p:cNvSpPr/>
          <p:nvPr/>
        </p:nvSpPr>
        <p:spPr>
          <a:xfrm>
            <a:off x="9999686" y="4975433"/>
            <a:ext cx="2093292" cy="2869980"/>
          </a:xfrm>
          <a:custGeom>
            <a:rect b="b" l="l" r="r" t="t"/>
            <a:pathLst>
              <a:path extrusionOk="0" h="2869980" w="2093292">
                <a:moveTo>
                  <a:pt x="0" y="0"/>
                </a:moveTo>
                <a:lnTo>
                  <a:pt x="2093292" y="0"/>
                </a:lnTo>
                <a:lnTo>
                  <a:pt x="2093292" y="2869980"/>
                </a:lnTo>
                <a:lnTo>
                  <a:pt x="0" y="2869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9"/>
          <p:cNvSpPr/>
          <p:nvPr/>
        </p:nvSpPr>
        <p:spPr>
          <a:xfrm>
            <a:off x="13327082" y="5957983"/>
            <a:ext cx="562158" cy="904882"/>
          </a:xfrm>
          <a:custGeom>
            <a:rect b="b" l="l" r="r" t="t"/>
            <a:pathLst>
              <a:path extrusionOk="0" h="904882" w="562158">
                <a:moveTo>
                  <a:pt x="0" y="0"/>
                </a:moveTo>
                <a:lnTo>
                  <a:pt x="562157" y="0"/>
                </a:lnTo>
                <a:lnTo>
                  <a:pt x="562157" y="904881"/>
                </a:lnTo>
                <a:lnTo>
                  <a:pt x="0" y="904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9"/>
          <p:cNvSpPr/>
          <p:nvPr/>
        </p:nvSpPr>
        <p:spPr>
          <a:xfrm>
            <a:off x="12092978" y="5430976"/>
            <a:ext cx="1234104" cy="1958895"/>
          </a:xfrm>
          <a:custGeom>
            <a:rect b="b" l="l" r="r" t="t"/>
            <a:pathLst>
              <a:path extrusionOk="0" h="1958895" w="1234104">
                <a:moveTo>
                  <a:pt x="0" y="0"/>
                </a:moveTo>
                <a:lnTo>
                  <a:pt x="1234104" y="0"/>
                </a:lnTo>
                <a:lnTo>
                  <a:pt x="1234104" y="1958895"/>
                </a:lnTo>
                <a:lnTo>
                  <a:pt x="0" y="1958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9"/>
          <p:cNvSpPr txBox="1"/>
          <p:nvPr/>
        </p:nvSpPr>
        <p:spPr>
          <a:xfrm>
            <a:off x="2543733" y="1980272"/>
            <a:ext cx="13200534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Call To Action (CTA)</a:t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13281197" y="8257518"/>
            <a:ext cx="4406946" cy="1391964"/>
          </a:xfrm>
          <a:custGeom>
            <a:rect b="b" l="l" r="r" t="t"/>
            <a:pathLst>
              <a:path extrusionOk="0" h="1391964" w="4406946">
                <a:moveTo>
                  <a:pt x="0" y="0"/>
                </a:moveTo>
                <a:lnTo>
                  <a:pt x="4406947" y="0"/>
                </a:lnTo>
                <a:lnTo>
                  <a:pt x="4406947" y="1391964"/>
                </a:lnTo>
                <a:lnTo>
                  <a:pt x="0" y="1391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485556" y="366729"/>
            <a:ext cx="17316887" cy="937778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1028700" y="3671321"/>
            <a:ext cx="16230600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Questions?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8556216" y="5055621"/>
            <a:ext cx="1175568" cy="1376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10"/>
          <p:cNvGrpSpPr/>
          <p:nvPr/>
        </p:nvGrpSpPr>
        <p:grpSpPr>
          <a:xfrm>
            <a:off x="4783229" y="5212329"/>
            <a:ext cx="8721543" cy="2381231"/>
            <a:chOff x="0" y="-76200"/>
            <a:chExt cx="11628724" cy="3174974"/>
          </a:xfrm>
        </p:grpSpPr>
        <p:sp>
          <p:nvSpPr>
            <p:cNvPr id="237" name="Google Shape;237;p10"/>
            <p:cNvSpPr txBox="1"/>
            <p:nvPr/>
          </p:nvSpPr>
          <p:spPr>
            <a:xfrm>
              <a:off x="0" y="747567"/>
              <a:ext cx="11628724" cy="23512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Gaurav K Mishra</a:t>
              </a:r>
              <a:endParaRPr/>
            </a:p>
            <a:p>
              <a:pPr indent="0" lvl="0" marL="0" marR="0" rtl="0" algn="ctr">
                <a:lnSpc>
                  <a:spcPct val="15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ggmm3576@gmail.com</a:t>
              </a:r>
              <a:endParaRPr/>
            </a:p>
            <a:p>
              <a:pPr indent="0" lvl="0" marL="0" marR="0" rtl="0" algn="ctr">
                <a:lnSpc>
                  <a:spcPct val="15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(208) 357-6285</a:t>
              </a:r>
              <a:endParaRPr/>
            </a:p>
            <a:p>
              <a:pPr indent="0" lvl="0" marL="0" marR="0" rtl="0" algn="ctr">
                <a:lnSpc>
                  <a:spcPct val="15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0"/>
            <p:cNvSpPr txBox="1"/>
            <p:nvPr/>
          </p:nvSpPr>
          <p:spPr>
            <a:xfrm>
              <a:off x="0" y="-76200"/>
              <a:ext cx="11628724" cy="567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01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10"/>
          <p:cNvSpPr/>
          <p:nvPr/>
        </p:nvSpPr>
        <p:spPr>
          <a:xfrm>
            <a:off x="13281197" y="8257518"/>
            <a:ext cx="4406946" cy="1391964"/>
          </a:xfrm>
          <a:custGeom>
            <a:rect b="b" l="l" r="r" t="t"/>
            <a:pathLst>
              <a:path extrusionOk="0" h="1391964" w="4406946">
                <a:moveTo>
                  <a:pt x="0" y="0"/>
                </a:moveTo>
                <a:lnTo>
                  <a:pt x="4406947" y="0"/>
                </a:lnTo>
                <a:lnTo>
                  <a:pt x="4406947" y="1391964"/>
                </a:lnTo>
                <a:lnTo>
                  <a:pt x="0" y="1391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