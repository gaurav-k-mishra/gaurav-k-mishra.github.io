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Sofia"/>
      <p:regular r:id="rId25"/>
    </p:embeddedFont>
    <p:embeddedFont>
      <p:font typeface="Noto Sans Symbols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F/yjMiYm6ug4ZRXFHIZ/SMiml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Symbols-regular.fntdata"/><Relationship Id="rId25" Type="http://schemas.openxmlformats.org/officeDocument/2006/relationships/font" Target="fonts/Sofia-regular.fntdata"/><Relationship Id="rId28" Type="http://customschemas.google.com/relationships/presentationmetadata" Target="metadata"/><Relationship Id="rId27" Type="http://schemas.openxmlformats.org/officeDocument/2006/relationships/font" Target="fonts/NotoSansSymbol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Speakers schedule</a:t>
            </a:r>
            <a:endParaRPr/>
          </a:p>
        </p:txBody>
      </p:sp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Catering schedule </a:t>
            </a:r>
            <a:endParaRPr/>
          </a:p>
        </p:txBody>
      </p:sp>
      <p:sp>
        <p:nvSpPr>
          <p:cNvPr id="391" name="Google Shape;3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Catering schedule </a:t>
            </a:r>
            <a:endParaRPr/>
          </a:p>
        </p:txBody>
      </p:sp>
      <p:sp>
        <p:nvSpPr>
          <p:cNvPr id="416" name="Google Shape;41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over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/>
          <p:nvPr>
            <p:ph idx="2" type="pic"/>
          </p:nvPr>
        </p:nvSpPr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grpSp>
        <p:nvGrpSpPr>
          <p:cNvPr id="17" name="Google Shape;17;p22"/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18" name="Google Shape;18;p22"/>
            <p:cNvSpPr/>
            <p:nvPr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cap="flat" cmpd="sng" w="127000">
              <a:solidFill>
                <a:srgbClr val="2F33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2"/>
            <p:cNvSpPr/>
            <p:nvPr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2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22"/>
          <p:cNvSpPr txBox="1"/>
          <p:nvPr>
            <p:ph type="ctrTitle"/>
          </p:nvPr>
        </p:nvSpPr>
        <p:spPr>
          <a:xfrm>
            <a:off x="2791372" y="2238426"/>
            <a:ext cx="6609256" cy="150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800"/>
              <a:buFont typeface="Calibri"/>
              <a:buNone/>
              <a:defRPr b="1" sz="48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2791372" y="3838627"/>
            <a:ext cx="6609256" cy="450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  <a:defRPr sz="24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/>
          <p:nvPr>
            <p:ph idx="2" type="pic"/>
          </p:nvPr>
        </p:nvSpPr>
        <p:spPr>
          <a:xfrm>
            <a:off x="2264229" y="0"/>
            <a:ext cx="9927771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grpSp>
        <p:nvGrpSpPr>
          <p:cNvPr id="25" name="Google Shape;25;p23"/>
          <p:cNvGrpSpPr/>
          <p:nvPr/>
        </p:nvGrpSpPr>
        <p:grpSpPr>
          <a:xfrm>
            <a:off x="883522" y="408327"/>
            <a:ext cx="5276606" cy="5768636"/>
            <a:chOff x="883522" y="408327"/>
            <a:chExt cx="5276606" cy="5768636"/>
          </a:xfrm>
        </p:grpSpPr>
        <p:sp>
          <p:nvSpPr>
            <p:cNvPr id="26" name="Google Shape;26;p23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7" name="Google Shape;27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25781" y="110728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28;p23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29;p23"/>
          <p:cNvSpPr txBox="1"/>
          <p:nvPr>
            <p:ph type="title"/>
          </p:nvPr>
        </p:nvSpPr>
        <p:spPr>
          <a:xfrm>
            <a:off x="838200" y="1501775"/>
            <a:ext cx="4351911" cy="2384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b="1" sz="44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838199" y="3886241"/>
            <a:ext cx="4351910" cy="29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">
  <p:cSld name="Large Imag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4"/>
          <p:cNvSpPr txBox="1"/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>
  <p:cSld name="Divider Slide 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/>
          <p:nvPr>
            <p:ph idx="2" type="pic"/>
          </p:nvPr>
        </p:nvSpPr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grpSp>
        <p:nvGrpSpPr>
          <p:cNvPr id="40" name="Google Shape;40;p25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41" name="Google Shape;41;p25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" name="Google Shape;42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25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25"/>
          <p:cNvSpPr txBox="1"/>
          <p:nvPr>
            <p:ph type="title"/>
          </p:nvPr>
        </p:nvSpPr>
        <p:spPr>
          <a:xfrm>
            <a:off x="4506095" y="1742989"/>
            <a:ext cx="4351911" cy="3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b="1" sz="44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" type="body"/>
          </p:nvPr>
        </p:nvSpPr>
        <p:spPr>
          <a:xfrm>
            <a:off x="4506094" y="4127455"/>
            <a:ext cx="4351910" cy="29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ontent">
  <p:cSld name="Picture with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/>
          <p:nvPr>
            <p:ph idx="2" type="pic"/>
          </p:nvPr>
        </p:nvSpPr>
        <p:spPr>
          <a:xfrm>
            <a:off x="6727370" y="0"/>
            <a:ext cx="546462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6"/>
          <p:cNvSpPr/>
          <p:nvPr/>
        </p:nvSpPr>
        <p:spPr>
          <a:xfrm>
            <a:off x="609600" y="391887"/>
            <a:ext cx="7075714" cy="5878284"/>
          </a:xfrm>
          <a:prstGeom prst="rect">
            <a:avLst/>
          </a:prstGeom>
          <a:noFill/>
          <a:ln cap="flat" cmpd="sng" w="127000">
            <a:solidFill>
              <a:srgbClr val="2F33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6"/>
          <p:cNvSpPr/>
          <p:nvPr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6"/>
          <p:cNvSpPr/>
          <p:nvPr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6"/>
          <p:cNvSpPr txBox="1"/>
          <p:nvPr>
            <p:ph type="title"/>
          </p:nvPr>
        </p:nvSpPr>
        <p:spPr>
          <a:xfrm>
            <a:off x="957943" y="1480457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  <a:defRPr b="1" sz="32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957943" y="2546851"/>
            <a:ext cx="5138057" cy="339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None/>
              <a:defRPr sz="1600">
                <a:solidFill>
                  <a:srgbClr val="2F334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5" name="Google Shape;55;p26"/>
          <p:cNvSpPr txBox="1"/>
          <p:nvPr>
            <p:ph idx="3" type="body"/>
          </p:nvPr>
        </p:nvSpPr>
        <p:spPr>
          <a:xfrm>
            <a:off x="979714" y="2095547"/>
            <a:ext cx="4958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idx="1" type="body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27"/>
          <p:cNvSpPr/>
          <p:nvPr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7"/>
          <p:cNvSpPr txBox="1"/>
          <p:nvPr>
            <p:ph type="title"/>
          </p:nvPr>
        </p:nvSpPr>
        <p:spPr>
          <a:xfrm>
            <a:off x="595884" y="0"/>
            <a:ext cx="3834596" cy="11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/>
          <p:nvPr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/>
          <p:nvPr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7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27"/>
          <p:cNvSpPr txBox="1"/>
          <p:nvPr>
            <p:ph idx="2" type="body"/>
          </p:nvPr>
        </p:nvSpPr>
        <p:spPr>
          <a:xfrm>
            <a:off x="8153395" y="1061132"/>
            <a:ext cx="3464721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3" type="body"/>
          </p:nvPr>
        </p:nvSpPr>
        <p:spPr>
          <a:xfrm>
            <a:off x="8153394" y="2108201"/>
            <a:ext cx="346472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4" type="body"/>
          </p:nvPr>
        </p:nvSpPr>
        <p:spPr>
          <a:xfrm>
            <a:off x="573882" y="2108201"/>
            <a:ext cx="346471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594519" y="0"/>
            <a:ext cx="11002962" cy="1189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600"/>
              <a:buFont typeface="Calibri"/>
              <a:buNone/>
              <a:defRPr b="1" sz="36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/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Open square accent block" id="73" name="Google Shape;73;p28"/>
          <p:cNvSpPr/>
          <p:nvPr/>
        </p:nvSpPr>
        <p:spPr>
          <a:xfrm flipH="1">
            <a:off x="2685137" y="972457"/>
            <a:ext cx="9172647" cy="4843807"/>
          </a:xfrm>
          <a:prstGeom prst="rect">
            <a:avLst/>
          </a:prstGeom>
          <a:noFill/>
          <a:ln cap="flat" cmpd="sng" w="88900">
            <a:solidFill>
              <a:srgbClr val="2F33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8"/>
          <p:cNvSpPr/>
          <p:nvPr/>
        </p:nvSpPr>
        <p:spPr>
          <a:xfrm flipH="1">
            <a:off x="333834" y="1547133"/>
            <a:ext cx="11026363" cy="4702292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609600" y="1189038"/>
            <a:ext cx="10939668" cy="48341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">
  <p:cSld name="Title and Content with Imag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/>
          <p:nvPr>
            <p:ph idx="2" type="pic"/>
          </p:nvPr>
        </p:nvSpPr>
        <p:spPr>
          <a:xfrm>
            <a:off x="2264229" y="0"/>
            <a:ext cx="4919153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79" name="Google Shape;79;p29"/>
          <p:cNvSpPr txBox="1"/>
          <p:nvPr>
            <p:ph type="title"/>
          </p:nvPr>
        </p:nvSpPr>
        <p:spPr>
          <a:xfrm>
            <a:off x="437804" y="1676400"/>
            <a:ext cx="5196241" cy="3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  <a:defRPr b="1" sz="44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>
            <a:off x="7639394" y="365125"/>
            <a:ext cx="4114801" cy="5811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1" name="Google Shape;8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9938" y="1088572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with Image">
  <p:cSld name="Comparison with Imag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/>
          <p:nvPr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0"/>
          <p:cNvSpPr txBox="1"/>
          <p:nvPr>
            <p:ph idx="1" type="body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  <a:defRPr b="1" sz="24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30"/>
          <p:cNvSpPr txBox="1"/>
          <p:nvPr>
            <p:ph idx="2" type="body"/>
          </p:nvPr>
        </p:nvSpPr>
        <p:spPr>
          <a:xfrm>
            <a:off x="573882" y="2108201"/>
            <a:ext cx="346471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400"/>
              <a:buChar char="•"/>
              <a:defRPr sz="1400">
                <a:solidFill>
                  <a:srgbClr val="2F3342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3" type="body"/>
          </p:nvPr>
        </p:nvSpPr>
        <p:spPr>
          <a:xfrm>
            <a:off x="8153400" y="1061132"/>
            <a:ext cx="3464717" cy="82391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400"/>
              <a:buNone/>
              <a:defRPr b="1" sz="24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30"/>
          <p:cNvSpPr txBox="1"/>
          <p:nvPr>
            <p:ph idx="4" type="body"/>
          </p:nvPr>
        </p:nvSpPr>
        <p:spPr>
          <a:xfrm>
            <a:off x="8153400" y="2108201"/>
            <a:ext cx="346471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400"/>
              <a:buChar char="•"/>
              <a:defRPr sz="1400">
                <a:solidFill>
                  <a:srgbClr val="2F3342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100"/>
              <a:buChar char="•"/>
              <a:defRPr sz="1100">
                <a:solidFill>
                  <a:srgbClr val="2F334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0"/>
          <p:cNvSpPr/>
          <p:nvPr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cap="flat" cmpd="sng" w="88900">
            <a:solidFill>
              <a:srgbClr val="2F33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0"/>
          <p:cNvSpPr/>
          <p:nvPr>
            <p:ph idx="5" type="pic"/>
          </p:nvPr>
        </p:nvSpPr>
        <p:spPr>
          <a:xfrm>
            <a:off x="4659082" y="489291"/>
            <a:ext cx="2873833" cy="592092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2" name="Google Shape;92;p30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0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 txBox="1"/>
          <p:nvPr>
            <p:ph idx="1" type="body"/>
          </p:nvPr>
        </p:nvSpPr>
        <p:spPr>
          <a:xfrm>
            <a:off x="6400191" y="470641"/>
            <a:ext cx="5220309" cy="59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6" name="Google Shape;96;p31"/>
          <p:cNvGrpSpPr/>
          <p:nvPr/>
        </p:nvGrpSpPr>
        <p:grpSpPr>
          <a:xfrm>
            <a:off x="657060" y="435124"/>
            <a:ext cx="5134751" cy="6215741"/>
            <a:chOff x="252031" y="391887"/>
            <a:chExt cx="7433283" cy="6215741"/>
          </a:xfrm>
        </p:grpSpPr>
        <p:sp>
          <p:nvSpPr>
            <p:cNvPr id="97" name="Google Shape;97;p31"/>
            <p:cNvSpPr/>
            <p:nvPr/>
          </p:nvSpPr>
          <p:spPr>
            <a:xfrm>
              <a:off x="979713" y="1181214"/>
              <a:ext cx="6117771" cy="5426414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1"/>
            <p:cNvSpPr/>
            <p:nvPr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cap="flat" cmpd="sng" w="127000">
              <a:solidFill>
                <a:srgbClr val="2F33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31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31"/>
          <p:cNvSpPr txBox="1"/>
          <p:nvPr>
            <p:ph type="title"/>
          </p:nvPr>
        </p:nvSpPr>
        <p:spPr>
          <a:xfrm>
            <a:off x="599167" y="1099002"/>
            <a:ext cx="4226024" cy="573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  <a:defRPr b="1" sz="32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2" type="body"/>
          </p:nvPr>
        </p:nvSpPr>
        <p:spPr>
          <a:xfrm>
            <a:off x="599167" y="2145234"/>
            <a:ext cx="4226024" cy="3857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1pPr>
            <a:lvl2pPr indent="-3302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600"/>
              <a:buChar char="•"/>
              <a:defRPr sz="1600">
                <a:solidFill>
                  <a:srgbClr val="2F3342"/>
                </a:solidFill>
              </a:defRPr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400"/>
              <a:buChar char="•"/>
              <a:defRPr sz="1400">
                <a:solidFill>
                  <a:srgbClr val="2F3342"/>
                </a:solidFill>
              </a:defRPr>
            </a:lvl3pPr>
            <a:lvl4pPr indent="-3048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4pPr>
            <a:lvl5pPr indent="-3048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F3342"/>
              </a:buClr>
              <a:buSzPts val="1200"/>
              <a:buChar char="•"/>
              <a:defRPr sz="1200">
                <a:solidFill>
                  <a:srgbClr val="2F334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3" type="body"/>
          </p:nvPr>
        </p:nvSpPr>
        <p:spPr>
          <a:xfrm>
            <a:off x="611804" y="1737564"/>
            <a:ext cx="4197802" cy="407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  <a:defRPr sz="2000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31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1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2"/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107" name="Google Shape;107;p32"/>
            <p:cNvSpPr/>
            <p:nvPr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2"/>
            <p:cNvSpPr/>
            <p:nvPr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cap="flat" cmpd="sng" w="1270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2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32"/>
          <p:cNvSpPr txBox="1"/>
          <p:nvPr>
            <p:ph type="ctrTitle"/>
          </p:nvPr>
        </p:nvSpPr>
        <p:spPr>
          <a:xfrm>
            <a:off x="2791372" y="2238426"/>
            <a:ext cx="6609256" cy="150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2"/>
          <p:cNvSpPr txBox="1"/>
          <p:nvPr>
            <p:ph idx="1" type="subTitle"/>
          </p:nvPr>
        </p:nvSpPr>
        <p:spPr>
          <a:xfrm>
            <a:off x="2791372" y="3838627"/>
            <a:ext cx="6609256" cy="450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33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114" name="Google Shape;114;p33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5" name="Google Shape;115;p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33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3"/>
          <p:cNvSpPr txBox="1"/>
          <p:nvPr>
            <p:ph type="title"/>
          </p:nvPr>
        </p:nvSpPr>
        <p:spPr>
          <a:xfrm>
            <a:off x="4506095" y="1742989"/>
            <a:ext cx="4351911" cy="3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3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3"/>
          <p:cNvSpPr txBox="1"/>
          <p:nvPr>
            <p:ph idx="1" type="body"/>
          </p:nvPr>
        </p:nvSpPr>
        <p:spPr>
          <a:xfrm>
            <a:off x="4506094" y="4127455"/>
            <a:ext cx="4351911" cy="29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/>
          <p:nvPr/>
        </p:nvSpPr>
        <p:spPr>
          <a:xfrm>
            <a:off x="4430484" y="0"/>
            <a:ext cx="2873833" cy="5426414"/>
          </a:xfrm>
          <a:prstGeom prst="rect">
            <a:avLst/>
          </a:prstGeom>
          <a:noFill/>
          <a:ln cap="flat" cmpd="sng" w="889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4"/>
          <p:cNvSpPr txBox="1"/>
          <p:nvPr>
            <p:ph type="title"/>
          </p:nvPr>
        </p:nvSpPr>
        <p:spPr>
          <a:xfrm>
            <a:off x="595884" y="0"/>
            <a:ext cx="3834596" cy="11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4"/>
          <p:cNvSpPr/>
          <p:nvPr/>
        </p:nvSpPr>
        <p:spPr>
          <a:xfrm>
            <a:off x="4887684" y="1431586"/>
            <a:ext cx="2873833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4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4"/>
          <p:cNvSpPr/>
          <p:nvPr/>
        </p:nvSpPr>
        <p:spPr>
          <a:xfrm>
            <a:off x="4659081" y="447789"/>
            <a:ext cx="2873833" cy="5957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571500" y="1431586"/>
            <a:ext cx="3467099" cy="436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8153394" y="1431586"/>
            <a:ext cx="3467106" cy="436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/>
          <p:nvPr/>
        </p:nvSpPr>
        <p:spPr>
          <a:xfrm>
            <a:off x="1159727" y="1224451"/>
            <a:ext cx="4226024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5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6294478" y="587829"/>
            <a:ext cx="5326022" cy="5273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5" name="Google Shape;135;p35"/>
          <p:cNvSpPr/>
          <p:nvPr/>
        </p:nvSpPr>
        <p:spPr>
          <a:xfrm>
            <a:off x="657060" y="698704"/>
            <a:ext cx="4473025" cy="5701790"/>
          </a:xfrm>
          <a:prstGeom prst="rect">
            <a:avLst/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35"/>
          <p:cNvGrpSpPr/>
          <p:nvPr/>
        </p:nvGrpSpPr>
        <p:grpSpPr>
          <a:xfrm>
            <a:off x="657060" y="435124"/>
            <a:ext cx="5134751" cy="5965370"/>
            <a:chOff x="252031" y="391887"/>
            <a:chExt cx="7433283" cy="5965370"/>
          </a:xfrm>
        </p:grpSpPr>
        <p:sp>
          <p:nvSpPr>
            <p:cNvPr id="137" name="Google Shape;137;p35"/>
            <p:cNvSpPr/>
            <p:nvPr/>
          </p:nvSpPr>
          <p:spPr>
            <a:xfrm>
              <a:off x="609600" y="391887"/>
              <a:ext cx="7075714" cy="5878284"/>
            </a:xfrm>
            <a:prstGeom prst="rect">
              <a:avLst/>
            </a:prstGeom>
            <a:noFill/>
            <a:ln cap="flat" cmpd="sng" w="1270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5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35"/>
          <p:cNvSpPr txBox="1"/>
          <p:nvPr>
            <p:ph idx="2" type="body"/>
          </p:nvPr>
        </p:nvSpPr>
        <p:spPr>
          <a:xfrm>
            <a:off x="609601" y="2546851"/>
            <a:ext cx="4101084" cy="339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35"/>
          <p:cNvSpPr txBox="1"/>
          <p:nvPr>
            <p:ph type="title"/>
          </p:nvPr>
        </p:nvSpPr>
        <p:spPr>
          <a:xfrm>
            <a:off x="609601" y="1480457"/>
            <a:ext cx="4101084" cy="979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/>
          <p:nvPr/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6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Open square accent block" id="144" name="Google Shape;144;p36"/>
          <p:cNvSpPr/>
          <p:nvPr/>
        </p:nvSpPr>
        <p:spPr>
          <a:xfrm flipH="1">
            <a:off x="2685137" y="972457"/>
            <a:ext cx="9172647" cy="4843807"/>
          </a:xfrm>
          <a:prstGeom prst="rect">
            <a:avLst/>
          </a:prstGeom>
          <a:noFill/>
          <a:ln cap="flat" cmpd="sng" w="88900">
            <a:solidFill>
              <a:srgbClr val="2F33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6"/>
          <p:cNvSpPr/>
          <p:nvPr/>
        </p:nvSpPr>
        <p:spPr>
          <a:xfrm flipH="1">
            <a:off x="333834" y="1547133"/>
            <a:ext cx="11026363" cy="4702292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6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36"/>
          <p:cNvSpPr/>
          <p:nvPr/>
        </p:nvSpPr>
        <p:spPr>
          <a:xfrm>
            <a:off x="471340" y="1189038"/>
            <a:ext cx="11149160" cy="48341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6"/>
          <p:cNvSpPr txBox="1"/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/>
        </p:nvSpPr>
        <p:spPr>
          <a:xfrm>
            <a:off x="11549269" y="6468303"/>
            <a:ext cx="4439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7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1"/>
          <p:cNvSpPr txBox="1"/>
          <p:nvPr>
            <p:ph type="title"/>
          </p:nvPr>
        </p:nvSpPr>
        <p:spPr>
          <a:xfrm>
            <a:off x="595884" y="0"/>
            <a:ext cx="110002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" type="body"/>
          </p:nvPr>
        </p:nvSpPr>
        <p:spPr>
          <a:xfrm>
            <a:off x="595884" y="1188720"/>
            <a:ext cx="11024616" cy="4988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">
          <p15:clr>
            <a:srgbClr val="F26B43"/>
          </p15:clr>
        </p15:guide>
        <p15:guide id="2" pos="7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5.pn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hyperlink" Target="mailto:ggmm357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334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uilding" id="157" name="Google Shape;157;p1" title="Abstract Buildi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158" name="Google Shape;158;p1"/>
          <p:cNvSpPr/>
          <p:nvPr/>
        </p:nvSpPr>
        <p:spPr>
          <a:xfrm>
            <a:off x="-71041" y="0"/>
            <a:ext cx="12263100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"/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160" name="Google Shape;160;p1"/>
            <p:cNvSpPr/>
            <p:nvPr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cap="flat" cmpd="sng" w="127000">
              <a:solidFill>
                <a:srgbClr val="2F33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"/>
          <p:cNvSpPr txBox="1"/>
          <p:nvPr>
            <p:ph type="ctrTitle"/>
          </p:nvPr>
        </p:nvSpPr>
        <p:spPr>
          <a:xfrm>
            <a:off x="2791372" y="2238426"/>
            <a:ext cx="6609256" cy="150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800"/>
              <a:buFont typeface="Calibri"/>
              <a:buNone/>
            </a:pPr>
            <a:r>
              <a:rPr lang="en-US">
                <a:solidFill>
                  <a:srgbClr val="2F3342"/>
                </a:solidFill>
              </a:rPr>
              <a:t>COMPANY LAUNCH ORIENTATION</a:t>
            </a:r>
            <a:endParaRPr/>
          </a:p>
        </p:txBody>
      </p:sp>
      <p:pic>
        <p:nvPicPr>
          <p:cNvPr descr="Lassonde Entrepreneur Institute" id="164" name="Google Shape;1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1405" y="5827716"/>
            <a:ext cx="2650595" cy="100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1017" y="5790142"/>
            <a:ext cx="326707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 txBox="1"/>
          <p:nvPr/>
        </p:nvSpPr>
        <p:spPr>
          <a:xfrm>
            <a:off x="2755863" y="136377"/>
            <a:ext cx="6609256" cy="1508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800"/>
              <a:buFont typeface="Calibri"/>
              <a:buNone/>
            </a:pPr>
            <a:r>
              <a:t/>
            </a:r>
            <a:endParaRPr b="1" i="0" sz="4800" u="none" cap="none" strike="noStrik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" id="171" name="Google Shape;171;p2" title="Buildi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4229" y="0"/>
            <a:ext cx="9927771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172" name="Google Shape;172;p2"/>
          <p:cNvSpPr/>
          <p:nvPr/>
        </p:nvSpPr>
        <p:spPr>
          <a:xfrm>
            <a:off x="-71017" y="0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-71019" y="17183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2"/>
          <p:cNvGrpSpPr/>
          <p:nvPr/>
        </p:nvGrpSpPr>
        <p:grpSpPr>
          <a:xfrm>
            <a:off x="883522" y="408327"/>
            <a:ext cx="5276606" cy="5768636"/>
            <a:chOff x="883522" y="408327"/>
            <a:chExt cx="5276606" cy="5768636"/>
          </a:xfrm>
        </p:grpSpPr>
        <p:sp>
          <p:nvSpPr>
            <p:cNvPr id="175" name="Google Shape;175;p2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Open square " id="176" name="Google Shape;17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"/>
          <p:cNvSpPr txBox="1"/>
          <p:nvPr>
            <p:ph type="title"/>
          </p:nvPr>
        </p:nvSpPr>
        <p:spPr>
          <a:xfrm>
            <a:off x="838200" y="1501775"/>
            <a:ext cx="4351911" cy="2384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</a:pPr>
            <a:r>
              <a:rPr lang="en-US" sz="4400"/>
              <a:t>MEET THE TEAM</a:t>
            </a:r>
            <a:endParaRPr/>
          </a:p>
        </p:txBody>
      </p:sp>
      <p:sp>
        <p:nvSpPr>
          <p:cNvPr id="179" name="Google Shape;179;p2"/>
          <p:cNvSpPr txBox="1"/>
          <p:nvPr>
            <p:ph idx="1" type="body"/>
          </p:nvPr>
        </p:nvSpPr>
        <p:spPr>
          <a:xfrm>
            <a:off x="6401065" y="877654"/>
            <a:ext cx="5619949" cy="2451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</a:pPr>
            <a:r>
              <a:rPr lang="en-US"/>
              <a:t>Company Launch Student Team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Char char="•"/>
            </a:pPr>
            <a:r>
              <a:rPr lang="en-US"/>
              <a:t>Gaurav Mishra, Director of Company Launch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Char char="•"/>
            </a:pPr>
            <a:r>
              <a:rPr lang="en-US"/>
              <a:t>Lauren Hash, Associate Director of Company Launch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Char char="•"/>
            </a:pPr>
            <a:r>
              <a:rPr lang="en-US"/>
              <a:t>Sai Paladugu, Associate Director of Company Launch 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0" name="Google Shape;180;p2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81" name="Google Shape;181;p2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assonde Entrepreneur Institute" id="183" name="Google Shape;18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1405" y="5856816"/>
            <a:ext cx="2650595" cy="100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"/>
          <p:cNvSpPr txBox="1"/>
          <p:nvPr/>
        </p:nvSpPr>
        <p:spPr>
          <a:xfrm>
            <a:off x="6401065" y="3123884"/>
            <a:ext cx="5619949" cy="2451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15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6401065" y="3867827"/>
            <a:ext cx="5619949" cy="2451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Lassonde Staff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Anne Bastien, Program Director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Thad Kelling, Marketing and Public Relations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/>
          <p:nvPr/>
        </p:nvSpPr>
        <p:spPr>
          <a:xfrm flipH="1">
            <a:off x="791413" y="502215"/>
            <a:ext cx="10638585" cy="5706080"/>
          </a:xfrm>
          <a:prstGeom prst="rect">
            <a:avLst/>
          </a:prstGeom>
          <a:noFill/>
          <a:ln cap="flat" cmpd="sng" w="88900">
            <a:solidFill>
              <a:srgbClr val="2F33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bstract building" id="192" name="Google Shape;192;p3" title="abstract buildi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54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"/>
          <p:cNvSpPr/>
          <p:nvPr/>
        </p:nvSpPr>
        <p:spPr>
          <a:xfrm>
            <a:off x="0" y="36547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 flipH="1">
            <a:off x="3662285" y="1961565"/>
            <a:ext cx="5386926" cy="2131595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928551" y="2108776"/>
            <a:ext cx="5386924" cy="26340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 txBox="1"/>
          <p:nvPr>
            <p:ph type="title"/>
          </p:nvPr>
        </p:nvSpPr>
        <p:spPr>
          <a:xfrm>
            <a:off x="4437252" y="2290274"/>
            <a:ext cx="4369521" cy="226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400"/>
              <a:buFont typeface="Calibri"/>
              <a:buNone/>
            </a:pPr>
            <a:r>
              <a:rPr b="0" lang="en-US" sz="2400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- Full name and name of your company</a:t>
            </a:r>
            <a:br>
              <a:rPr b="0" lang="en-US" sz="2400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400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- Brief recap of progress you made in the Summer</a:t>
            </a:r>
            <a:br>
              <a:rPr b="0" lang="en-US" sz="2400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400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- Anything you are hoping to get out of Company Launch</a:t>
            </a:r>
            <a:br>
              <a:rPr b="0" lang="en-US" sz="2400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400" cap="none">
                <a:solidFill>
                  <a:srgbClr val="2F3342"/>
                </a:solidFill>
                <a:latin typeface="Calibri"/>
                <a:ea typeface="Calibri"/>
                <a:cs typeface="Calibri"/>
                <a:sym typeface="Calibri"/>
              </a:rPr>
              <a:t>- Goals for Fall semester</a:t>
            </a:r>
            <a:endParaRPr b="0" sz="2400" cap="none">
              <a:solidFill>
                <a:srgbClr val="2F3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 flipH="1">
            <a:off x="11549268" y="6356350"/>
            <a:ext cx="672142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assonde Entrepreneur Institute" id="200" name="Google Shape;2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1405" y="5856816"/>
            <a:ext cx="2650595" cy="1001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y Scape" id="205" name="Google Shape;205;p4" title="City Scape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206" name="Google Shape;206;p4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fia"/>
              <a:ea typeface="Sofia"/>
              <a:cs typeface="Sofia"/>
              <a:sym typeface="Sofia"/>
            </a:endParaRPr>
          </a:p>
        </p:txBody>
      </p:sp>
      <p:grpSp>
        <p:nvGrpSpPr>
          <p:cNvPr id="207" name="Google Shape;207;p4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208" name="Google Shape;208;p4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Open square" id="209" name="Google Shape;20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4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4"/>
          <p:cNvSpPr txBox="1"/>
          <p:nvPr>
            <p:ph type="title"/>
          </p:nvPr>
        </p:nvSpPr>
        <p:spPr>
          <a:xfrm>
            <a:off x="4506095" y="2507633"/>
            <a:ext cx="4351911" cy="176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</a:pPr>
            <a:r>
              <a:rPr lang="en-US"/>
              <a:t>FIVE MILESTONES</a:t>
            </a:r>
            <a:endParaRPr/>
          </a:p>
        </p:txBody>
      </p:sp>
      <p:sp>
        <p:nvSpPr>
          <p:cNvPr id="212" name="Google Shape;212;p4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ssonde Entrepreneur Institute" id="215" name="Google Shape;21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1405" y="5856816"/>
            <a:ext cx="2650595" cy="10011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4"/>
          <p:cNvGrpSpPr/>
          <p:nvPr/>
        </p:nvGrpSpPr>
        <p:grpSpPr>
          <a:xfrm>
            <a:off x="1699760" y="3908871"/>
            <a:ext cx="8792478" cy="2327781"/>
            <a:chOff x="73277" y="621346"/>
            <a:chExt cx="8792478" cy="2327781"/>
          </a:xfrm>
        </p:grpSpPr>
        <p:sp>
          <p:nvSpPr>
            <p:cNvPr id="217" name="Google Shape;217;p4"/>
            <p:cNvSpPr/>
            <p:nvPr/>
          </p:nvSpPr>
          <p:spPr>
            <a:xfrm>
              <a:off x="7219575" y="962156"/>
              <a:ext cx="1646180" cy="1646449"/>
            </a:xfrm>
            <a:prstGeom prst="ellipse">
              <a:avLst/>
            </a:prstGeom>
            <a:solidFill>
              <a:srgbClr val="414042"/>
            </a:solidFill>
            <a:ln cap="flat" cmpd="sng" w="9525">
              <a:solidFill>
                <a:srgbClr val="4140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7273893" y="1017048"/>
              <a:ext cx="1536668" cy="1536667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4140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"/>
            <p:cNvSpPr txBox="1"/>
            <p:nvPr/>
          </p:nvSpPr>
          <p:spPr>
            <a:xfrm>
              <a:off x="7493793" y="1236613"/>
              <a:ext cx="1097745" cy="1097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fi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Sofia"/>
                  <a:ea typeface="Sofia"/>
                  <a:cs typeface="Sofia"/>
                  <a:sym typeface="Sofia"/>
                </a:rPr>
                <a:t>Revenue Generated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 rot="2700000">
              <a:off x="5517420" y="962242"/>
              <a:ext cx="1645990" cy="1645990"/>
            </a:xfrm>
            <a:prstGeom prst="teardrop">
              <a:avLst>
                <a:gd fmla="val 100000" name="adj"/>
              </a:avLst>
            </a:prstGeom>
            <a:solidFill>
              <a:srgbClr val="414042"/>
            </a:solidFill>
            <a:ln cap="flat" cmpd="sng" w="9525">
              <a:solidFill>
                <a:srgbClr val="4140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5573395" y="1017048"/>
              <a:ext cx="1536668" cy="1536667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4140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"/>
            <p:cNvSpPr txBox="1"/>
            <p:nvPr/>
          </p:nvSpPr>
          <p:spPr>
            <a:xfrm>
              <a:off x="5792418" y="1236613"/>
              <a:ext cx="1097745" cy="1097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fi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Sofia"/>
                  <a:ea typeface="Sofia"/>
                  <a:cs typeface="Sofia"/>
                  <a:sym typeface="Sofia"/>
                </a:rPr>
                <a:t>Funded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 rot="2700000">
              <a:off x="3816922" y="962242"/>
              <a:ext cx="1645990" cy="1645990"/>
            </a:xfrm>
            <a:prstGeom prst="teardrop">
              <a:avLst>
                <a:gd fmla="val 100000" name="adj"/>
              </a:avLst>
            </a:prstGeom>
            <a:solidFill>
              <a:srgbClr val="414042"/>
            </a:solidFill>
            <a:ln cap="flat" cmpd="sng" w="9525">
              <a:solidFill>
                <a:srgbClr val="4140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3872020" y="1017048"/>
              <a:ext cx="1536668" cy="1536667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4140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 txBox="1"/>
            <p:nvPr/>
          </p:nvSpPr>
          <p:spPr>
            <a:xfrm>
              <a:off x="4091044" y="1236613"/>
              <a:ext cx="1097745" cy="1097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fi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Sofia"/>
                  <a:ea typeface="Sofia"/>
                  <a:cs typeface="Sofia"/>
                  <a:sym typeface="Sofia"/>
                </a:rPr>
                <a:t>Entity Established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 rot="2700000">
              <a:off x="2115547" y="962242"/>
              <a:ext cx="1645990" cy="1645990"/>
            </a:xfrm>
            <a:prstGeom prst="teardrop">
              <a:avLst>
                <a:gd fmla="val 100000" name="adj"/>
              </a:avLst>
            </a:prstGeom>
            <a:solidFill>
              <a:srgbClr val="414042"/>
            </a:solidFill>
            <a:ln cap="flat" cmpd="sng" w="9525">
              <a:solidFill>
                <a:srgbClr val="4140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2170646" y="1017048"/>
              <a:ext cx="1536668" cy="1536667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4140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"/>
            <p:cNvSpPr txBox="1"/>
            <p:nvPr/>
          </p:nvSpPr>
          <p:spPr>
            <a:xfrm>
              <a:off x="2390546" y="1236613"/>
              <a:ext cx="1097745" cy="1097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fi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Sofia"/>
                  <a:ea typeface="Sofia"/>
                  <a:cs typeface="Sofia"/>
                  <a:sym typeface="Sofia"/>
                </a:rPr>
                <a:t>Webpage Created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 rot="2700000">
              <a:off x="414173" y="962242"/>
              <a:ext cx="1645990" cy="1645990"/>
            </a:xfrm>
            <a:prstGeom prst="teardrop">
              <a:avLst>
                <a:gd fmla="val 100000" name="adj"/>
              </a:avLst>
            </a:prstGeom>
            <a:solidFill>
              <a:srgbClr val="414042"/>
            </a:solidFill>
            <a:ln cap="flat" cmpd="sng" w="9525">
              <a:solidFill>
                <a:srgbClr val="4140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469271" y="1017048"/>
              <a:ext cx="1536668" cy="1536667"/>
            </a:xfrm>
            <a:prstGeom prst="ellipse">
              <a:avLst/>
            </a:prstGeom>
            <a:solidFill>
              <a:srgbClr val="F2F2F2"/>
            </a:solidFill>
            <a:ln cap="flat" cmpd="sng" w="9525">
              <a:solidFill>
                <a:srgbClr val="4140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"/>
            <p:cNvSpPr txBox="1"/>
            <p:nvPr/>
          </p:nvSpPr>
          <p:spPr>
            <a:xfrm>
              <a:off x="689171" y="1236613"/>
              <a:ext cx="1097745" cy="1097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Sofia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Sofia"/>
                  <a:ea typeface="Sofia"/>
                  <a:cs typeface="Sofia"/>
                  <a:sym typeface="Sofia"/>
                </a:rPr>
                <a:t>Problem &amp; Solution Identified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"/>
          <p:cNvSpPr/>
          <p:nvPr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 txBox="1"/>
          <p:nvPr>
            <p:ph type="title"/>
          </p:nvPr>
        </p:nvSpPr>
        <p:spPr>
          <a:xfrm>
            <a:off x="957943" y="1480457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/>
              <a:t>1. PROBLEM &amp; SOLUTION IDENTIFIED</a:t>
            </a:r>
            <a:endParaRPr/>
          </a:p>
        </p:txBody>
      </p:sp>
      <p:sp>
        <p:nvSpPr>
          <p:cNvPr id="240" name="Google Shape;240;p5"/>
          <p:cNvSpPr txBox="1"/>
          <p:nvPr>
            <p:ph idx="1" type="body"/>
          </p:nvPr>
        </p:nvSpPr>
        <p:spPr>
          <a:xfrm>
            <a:off x="957943" y="2546851"/>
            <a:ext cx="5138057" cy="339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Have you identified a problem that centers your team’s overall focus and objective?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Have you identified actionable steps to take in order to solve the problem?</a:t>
            </a:r>
            <a:endParaRPr/>
          </a:p>
          <a:p>
            <a:pPr indent="-1968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979713" y="1181214"/>
            <a:ext cx="6117900" cy="5426400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957943" y="655467"/>
            <a:ext cx="5769300" cy="570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>
            <p:ph type="title"/>
          </p:nvPr>
        </p:nvSpPr>
        <p:spPr>
          <a:xfrm>
            <a:off x="957943" y="1480457"/>
            <a:ext cx="51381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/>
              <a:t>2. WEBPAGE CREATED</a:t>
            </a:r>
            <a:endParaRPr/>
          </a:p>
        </p:txBody>
      </p:sp>
      <p:sp>
        <p:nvSpPr>
          <p:cNvPr id="252" name="Google Shape;252;p6"/>
          <p:cNvSpPr txBox="1"/>
          <p:nvPr>
            <p:ph idx="1" type="body"/>
          </p:nvPr>
        </p:nvSpPr>
        <p:spPr>
          <a:xfrm>
            <a:off x="957943" y="2546851"/>
            <a:ext cx="5138100" cy="3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Have you chosen a company name and reserved the web domain?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Can you direct people to a webpage to learn about your cause?</a:t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1968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 txBox="1"/>
          <p:nvPr>
            <p:ph idx="11" type="ftr"/>
          </p:nvPr>
        </p:nvSpPr>
        <p:spPr>
          <a:xfrm>
            <a:off x="595884" y="6456328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>
            <p:ph type="title"/>
          </p:nvPr>
        </p:nvSpPr>
        <p:spPr>
          <a:xfrm>
            <a:off x="957943" y="1480457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/>
              <a:t>3. ENTITY ESTABLISHED</a:t>
            </a:r>
            <a:endParaRPr/>
          </a:p>
        </p:txBody>
      </p:sp>
      <p:sp>
        <p:nvSpPr>
          <p:cNvPr id="264" name="Google Shape;264;p7"/>
          <p:cNvSpPr txBox="1"/>
          <p:nvPr>
            <p:ph idx="1" type="body"/>
          </p:nvPr>
        </p:nvSpPr>
        <p:spPr>
          <a:xfrm>
            <a:off x="957943" y="2546851"/>
            <a:ext cx="5138057" cy="339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Have you incorporated?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Do you have an operating or shareholder agreement?</a:t>
            </a:r>
            <a:endParaRPr/>
          </a:p>
          <a:p>
            <a:pPr indent="-1968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/>
          <p:nvPr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>
            <p:ph type="title"/>
          </p:nvPr>
        </p:nvSpPr>
        <p:spPr>
          <a:xfrm>
            <a:off x="957943" y="1480457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/>
              <a:t>4. FUNDED</a:t>
            </a:r>
            <a:endParaRPr/>
          </a:p>
        </p:txBody>
      </p:sp>
      <p:sp>
        <p:nvSpPr>
          <p:cNvPr id="276" name="Google Shape;276;p8"/>
          <p:cNvSpPr txBox="1"/>
          <p:nvPr>
            <p:ph idx="1" type="body"/>
          </p:nvPr>
        </p:nvSpPr>
        <p:spPr>
          <a:xfrm>
            <a:off x="957943" y="2546851"/>
            <a:ext cx="5138057" cy="339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Have you received financial support from family, friends, investors, bank or other contributions?</a:t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1968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/>
          <p:nvPr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 txBox="1"/>
          <p:nvPr>
            <p:ph type="title"/>
          </p:nvPr>
        </p:nvSpPr>
        <p:spPr>
          <a:xfrm>
            <a:off x="957943" y="1480457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/>
              <a:t>5. REVENUE GENERATED</a:t>
            </a:r>
            <a:endParaRPr/>
          </a:p>
        </p:txBody>
      </p:sp>
      <p:sp>
        <p:nvSpPr>
          <p:cNvPr id="288" name="Google Shape;288;p9"/>
          <p:cNvSpPr txBox="1"/>
          <p:nvPr>
            <p:ph idx="1" type="body"/>
          </p:nvPr>
        </p:nvSpPr>
        <p:spPr>
          <a:xfrm>
            <a:off x="957943" y="2546851"/>
            <a:ext cx="5138057" cy="339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Are you generating revenue?</a:t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1968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y Scape" id="296" name="Google Shape;296;p10" title="City Scape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" name="Google Shape;298;p10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299" name="Google Shape;299;p10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Open square" id="300" name="Google Shape;30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10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10"/>
          <p:cNvSpPr txBox="1"/>
          <p:nvPr>
            <p:ph type="title"/>
          </p:nvPr>
        </p:nvSpPr>
        <p:spPr>
          <a:xfrm>
            <a:off x="4506095" y="2507633"/>
            <a:ext cx="4351911" cy="176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400"/>
              <a:buFont typeface="Calibri"/>
              <a:buNone/>
            </a:pPr>
            <a:r>
              <a:rPr lang="en-US"/>
              <a:t>MILESTONE MEETINGS</a:t>
            </a:r>
            <a:endParaRPr/>
          </a:p>
        </p:txBody>
      </p:sp>
      <p:sp>
        <p:nvSpPr>
          <p:cNvPr id="303" name="Google Shape;303;p10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ssonde Entrepreneur Institute" id="306" name="Google Shape;30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1405" y="5856816"/>
            <a:ext cx="2650595" cy="1001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/>
        </p:nvSpPr>
        <p:spPr>
          <a:xfrm>
            <a:off x="979713" y="1181214"/>
            <a:ext cx="6117771" cy="5426414"/>
          </a:xfrm>
          <a:prstGeom prst="rect">
            <a:avLst/>
          </a:prstGeom>
          <a:gradFill>
            <a:gsLst>
              <a:gs pos="0">
                <a:srgbClr val="038B30">
                  <a:alpha val="69411"/>
                </a:srgbClr>
              </a:gs>
              <a:gs pos="50000">
                <a:srgbClr val="05EE55">
                  <a:alpha val="69411"/>
                </a:srgbClr>
              </a:gs>
              <a:gs pos="100000">
                <a:srgbClr val="C0F400">
                  <a:alpha val="69411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957943" y="655467"/>
            <a:ext cx="5769428" cy="57017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/>
          <p:nvPr>
            <p:ph type="title"/>
          </p:nvPr>
        </p:nvSpPr>
        <p:spPr>
          <a:xfrm>
            <a:off x="957943" y="1480457"/>
            <a:ext cx="5138057" cy="587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200"/>
              <a:buFont typeface="Calibri"/>
              <a:buNone/>
            </a:pPr>
            <a:r>
              <a:rPr lang="en-US"/>
              <a:t>MILESTONE MEETINGS</a:t>
            </a:r>
            <a:endParaRPr/>
          </a:p>
        </p:txBody>
      </p:sp>
      <p:sp>
        <p:nvSpPr>
          <p:cNvPr id="315" name="Google Shape;315;p11"/>
          <p:cNvSpPr txBox="1"/>
          <p:nvPr>
            <p:ph idx="3" type="body"/>
          </p:nvPr>
        </p:nvSpPr>
        <p:spPr>
          <a:xfrm>
            <a:off x="979714" y="2095547"/>
            <a:ext cx="4958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 txBox="1"/>
          <p:nvPr>
            <p:ph idx="1" type="body"/>
          </p:nvPr>
        </p:nvSpPr>
        <p:spPr>
          <a:xfrm>
            <a:off x="957943" y="2546851"/>
            <a:ext cx="5138057" cy="339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Track progress and resolve issues by using Lassonde resources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Slack Link: https://join.slack.com/t/companylaunchcohort/shared_invite/zt-1f6ptmdpw-mQjIvLxJ9x7NKuzoFzywUA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Gaurav Mishra: Tuesday, 11 AM – 1 PM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Lauren Hash: Friday, 8:20 AM – 10:20 AM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Char char="•"/>
            </a:pPr>
            <a:r>
              <a:rPr lang="en-US"/>
              <a:t>Sai Paladugu: Wednesday, 12:00 PM – 2:00 PM</a:t>
            </a:r>
            <a:endParaRPr/>
          </a:p>
          <a:p>
            <a:pPr indent="-1968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1841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Gallery – Lassonde Entrepreneur Institute – University of Utah" id="319" name="Google Shape;3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7370" y="0"/>
            <a:ext cx="546462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y Scape" id="324" name="Google Shape;324;p12" title="City Scape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325" name="Google Shape;325;p12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p12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327" name="Google Shape;327;p12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Open square" id="328" name="Google Shape;32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2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2"/>
          <p:cNvSpPr txBox="1"/>
          <p:nvPr>
            <p:ph type="title"/>
          </p:nvPr>
        </p:nvSpPr>
        <p:spPr>
          <a:xfrm>
            <a:off x="4506095" y="2507633"/>
            <a:ext cx="4351911" cy="176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/>
              <a:t>UTAH ENTREPRENEUR CHALLENGE AND GET SEEDED</a:t>
            </a:r>
            <a:endParaRPr/>
          </a:p>
        </p:txBody>
      </p:sp>
      <p:sp>
        <p:nvSpPr>
          <p:cNvPr id="331" name="Google Shape;331;p12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 txBox="1"/>
          <p:nvPr>
            <p:ph idx="1" type="body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Utah Entrepreneur Challenge</a:t>
            </a:r>
            <a:endParaRPr/>
          </a:p>
        </p:txBody>
      </p:sp>
      <p:sp>
        <p:nvSpPr>
          <p:cNvPr id="340" name="Google Shape;340;p13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341" name="Google Shape;341;p13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13"/>
          <p:cNvSpPr txBox="1"/>
          <p:nvPr>
            <p:ph idx="2" type="body"/>
          </p:nvPr>
        </p:nvSpPr>
        <p:spPr>
          <a:xfrm>
            <a:off x="8153395" y="1061132"/>
            <a:ext cx="3464721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Get Seeded</a:t>
            </a:r>
            <a:endParaRPr/>
          </a:p>
        </p:txBody>
      </p:sp>
      <p:sp>
        <p:nvSpPr>
          <p:cNvPr id="343" name="Google Shape;343;p13"/>
          <p:cNvSpPr txBox="1"/>
          <p:nvPr>
            <p:ph idx="3" type="body"/>
          </p:nvPr>
        </p:nvSpPr>
        <p:spPr>
          <a:xfrm>
            <a:off x="8153394" y="2108201"/>
            <a:ext cx="3464721" cy="2062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Microgrants ($500) and grants ($1,500)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Describe business idea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Idea, milestone, amount of funding, </a:t>
            </a:r>
            <a:r>
              <a:rPr lang="en-US" sz="20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customer validation, competitive research</a:t>
            </a:r>
            <a:endParaRPr/>
          </a:p>
        </p:txBody>
      </p:sp>
      <p:sp>
        <p:nvSpPr>
          <p:cNvPr id="344" name="Google Shape;344;p13"/>
          <p:cNvSpPr txBox="1"/>
          <p:nvPr>
            <p:ph idx="4" type="body"/>
          </p:nvPr>
        </p:nvSpPr>
        <p:spPr>
          <a:xfrm>
            <a:off x="573882" y="2108201"/>
            <a:ext cx="3464717" cy="1320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 model submission</a:t>
            </a:r>
            <a:endParaRPr b="0" i="0" sz="2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submission</a:t>
            </a:r>
            <a:endParaRPr b="0" i="0" sz="2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Live Presentation</a:t>
            </a:r>
            <a:endParaRPr b="0" i="0" sz="2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 txBox="1"/>
          <p:nvPr>
            <p:ph type="title"/>
          </p:nvPr>
        </p:nvSpPr>
        <p:spPr>
          <a:xfrm>
            <a:off x="4710684" y="3297352"/>
            <a:ext cx="2735144" cy="11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$500 - $1,500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4710684" y="1419038"/>
            <a:ext cx="2735144" cy="1124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$60,000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93" y="4421756"/>
            <a:ext cx="3464717" cy="1459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5624" y="4170556"/>
            <a:ext cx="4296375" cy="181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y Scape" id="353" name="Google Shape;353;p14" title="City Scape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354" name="Google Shape;354;p14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" name="Google Shape;355;p14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356" name="Google Shape;356;p14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Open square" id="357" name="Google Shape;35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14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4"/>
          <p:cNvSpPr txBox="1"/>
          <p:nvPr>
            <p:ph type="title"/>
          </p:nvPr>
        </p:nvSpPr>
        <p:spPr>
          <a:xfrm>
            <a:off x="4506095" y="2507633"/>
            <a:ext cx="4351911" cy="176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/>
              <a:t>WORKSHOPS AND HOURS WITH EXPERTS</a:t>
            </a:r>
            <a:endParaRPr/>
          </a:p>
        </p:txBody>
      </p:sp>
      <p:sp>
        <p:nvSpPr>
          <p:cNvPr id="360" name="Google Shape;360;p14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 txBox="1"/>
          <p:nvPr>
            <p:ph idx="1" type="body"/>
          </p:nvPr>
        </p:nvSpPr>
        <p:spPr>
          <a:xfrm>
            <a:off x="573882" y="1061132"/>
            <a:ext cx="3464717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Workshops</a:t>
            </a:r>
            <a:endParaRPr/>
          </a:p>
        </p:txBody>
      </p:sp>
      <p:sp>
        <p:nvSpPr>
          <p:cNvPr id="369" name="Google Shape;369;p15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370" name="Google Shape;370;p15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15"/>
          <p:cNvSpPr txBox="1"/>
          <p:nvPr>
            <p:ph idx="2" type="body"/>
          </p:nvPr>
        </p:nvSpPr>
        <p:spPr>
          <a:xfrm>
            <a:off x="8153395" y="1061132"/>
            <a:ext cx="3464721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Hours with Experts</a:t>
            </a:r>
            <a:endParaRPr/>
          </a:p>
        </p:txBody>
      </p:sp>
      <p:pic>
        <p:nvPicPr>
          <p:cNvPr id="372" name="Google Shape;372;p15"/>
          <p:cNvPicPr preferRelativeResize="0"/>
          <p:nvPr>
            <p:ph idx="3" type="body"/>
          </p:nvPr>
        </p:nvPicPr>
        <p:blipFill rotWithShape="1">
          <a:blip r:embed="rId3">
            <a:alphaModFix/>
          </a:blip>
          <a:srcRect b="5351" l="11784" r="39872" t="21522"/>
          <a:stretch/>
        </p:blipFill>
        <p:spPr>
          <a:xfrm>
            <a:off x="7916004" y="2034166"/>
            <a:ext cx="4180862" cy="3762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5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4905" l="12063" r="57224" t="20845"/>
          <a:stretch/>
        </p:blipFill>
        <p:spPr>
          <a:xfrm>
            <a:off x="787206" y="1885044"/>
            <a:ext cx="3038068" cy="413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y Scape" id="378" name="Google Shape;378;p16" title="City Scape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379" name="Google Shape;379;p16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0" name="Google Shape;380;p16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381" name="Google Shape;381;p16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Open square" id="382" name="Google Shape;38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16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16"/>
          <p:cNvSpPr txBox="1"/>
          <p:nvPr>
            <p:ph type="title"/>
          </p:nvPr>
        </p:nvSpPr>
        <p:spPr>
          <a:xfrm>
            <a:off x="4506095" y="2507633"/>
            <a:ext cx="4351911" cy="176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/>
              <a:t>COMPANY LAUNCH 2022 GOALS</a:t>
            </a:r>
            <a:endParaRPr/>
          </a:p>
        </p:txBody>
      </p:sp>
      <p:sp>
        <p:nvSpPr>
          <p:cNvPr id="385" name="Google Shape;385;p16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 txBox="1"/>
          <p:nvPr/>
        </p:nvSpPr>
        <p:spPr>
          <a:xfrm>
            <a:off x="2653284" y="834833"/>
            <a:ext cx="9386316" cy="50410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>
            <p:ph type="title"/>
          </p:nvPr>
        </p:nvSpPr>
        <p:spPr>
          <a:xfrm>
            <a:off x="594519" y="0"/>
            <a:ext cx="11002962" cy="1189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600"/>
              <a:buFont typeface="Calibri"/>
              <a:buNone/>
            </a:pPr>
            <a:r>
              <a:rPr lang="en-US"/>
              <a:t>COMPANY LAUNCH 2022 GOALS</a:t>
            </a:r>
            <a:endParaRPr/>
          </a:p>
        </p:txBody>
      </p:sp>
      <p:sp>
        <p:nvSpPr>
          <p:cNvPr id="395" name="Google Shape;395;p17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396" name="Google Shape;396;p17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 txBox="1"/>
          <p:nvPr>
            <p:ph idx="1" type="body"/>
          </p:nvPr>
        </p:nvSpPr>
        <p:spPr>
          <a:xfrm>
            <a:off x="609600" y="1189038"/>
            <a:ext cx="10939668" cy="48341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Maintain Progress form document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Complete the Company Launch Milestones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Compete in Utah Entrepreneur Challenge and GetSeeded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y Scape" id="403" name="Google Shape;403;p18" title="City Scape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404" name="Google Shape;404;p18"/>
          <p:cNvSpPr/>
          <p:nvPr/>
        </p:nvSpPr>
        <p:spPr>
          <a:xfrm>
            <a:off x="-71016" y="0"/>
            <a:ext cx="12263015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" name="Google Shape;405;p18"/>
          <p:cNvGrpSpPr/>
          <p:nvPr/>
        </p:nvGrpSpPr>
        <p:grpSpPr>
          <a:xfrm rot="10800000">
            <a:off x="3581400" y="451189"/>
            <a:ext cx="5276606" cy="5768636"/>
            <a:chOff x="883522" y="408327"/>
            <a:chExt cx="5276606" cy="5768636"/>
          </a:xfrm>
        </p:grpSpPr>
        <p:sp>
          <p:nvSpPr>
            <p:cNvPr id="406" name="Google Shape;406;p18"/>
            <p:cNvSpPr/>
            <p:nvPr/>
          </p:nvSpPr>
          <p:spPr>
            <a:xfrm>
              <a:off x="1808217" y="1403690"/>
              <a:ext cx="4351911" cy="4773273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Open square" id="407" name="Google Shape;40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9938" y="1088572"/>
              <a:ext cx="4572000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18"/>
            <p:cNvSpPr/>
            <p:nvPr/>
          </p:nvSpPr>
          <p:spPr>
            <a:xfrm>
              <a:off x="883522" y="408327"/>
              <a:ext cx="4351911" cy="477327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18"/>
          <p:cNvSpPr txBox="1"/>
          <p:nvPr>
            <p:ph type="title"/>
          </p:nvPr>
        </p:nvSpPr>
        <p:spPr>
          <a:xfrm>
            <a:off x="4506095" y="2507633"/>
            <a:ext cx="4351911" cy="176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Font typeface="Calibri"/>
              <a:buNone/>
            </a:pPr>
            <a:r>
              <a:rPr lang="en-US"/>
              <a:t>COMPANY LAUNCH COHORT MEETINGS</a:t>
            </a:r>
            <a:endParaRPr/>
          </a:p>
        </p:txBody>
      </p:sp>
      <p:sp>
        <p:nvSpPr>
          <p:cNvPr id="410" name="Google Shape;410;p18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"/>
          <p:cNvSpPr txBox="1"/>
          <p:nvPr/>
        </p:nvSpPr>
        <p:spPr>
          <a:xfrm>
            <a:off x="2653284" y="834833"/>
            <a:ext cx="9386316" cy="50410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 txBox="1"/>
          <p:nvPr>
            <p:ph type="title"/>
          </p:nvPr>
        </p:nvSpPr>
        <p:spPr>
          <a:xfrm>
            <a:off x="594519" y="0"/>
            <a:ext cx="11002962" cy="1189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3600"/>
              <a:buFont typeface="Calibri"/>
              <a:buNone/>
            </a:pPr>
            <a:r>
              <a:rPr lang="en-US"/>
              <a:t>COMPANY LAUNCH MEETINGS</a:t>
            </a:r>
            <a:endParaRPr/>
          </a:p>
        </p:txBody>
      </p:sp>
      <p:sp>
        <p:nvSpPr>
          <p:cNvPr id="420" name="Google Shape;420;p19"/>
          <p:cNvSpPr txBox="1"/>
          <p:nvPr>
            <p:ph idx="11" type="ftr"/>
          </p:nvPr>
        </p:nvSpPr>
        <p:spPr>
          <a:xfrm>
            <a:off x="595884" y="645632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421" name="Google Shape;421;p19"/>
          <p:cNvSpPr txBox="1"/>
          <p:nvPr>
            <p:ph idx="12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 txBox="1"/>
          <p:nvPr>
            <p:ph idx="1" type="body"/>
          </p:nvPr>
        </p:nvSpPr>
        <p:spPr>
          <a:xfrm>
            <a:off x="609600" y="1189038"/>
            <a:ext cx="10939668" cy="48341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09/06/2022 – Webpage created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10/04/2022 – Entity Established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11/01/2022 – Funding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11/22/2022 – Generating revenue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3342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image" id="428" name="Google Shape;428;p20" title="abstract image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015" y="0"/>
            <a:ext cx="12263015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  <p:sp>
        <p:nvSpPr>
          <p:cNvPr id="429" name="Google Shape;429;p20"/>
          <p:cNvSpPr/>
          <p:nvPr/>
        </p:nvSpPr>
        <p:spPr>
          <a:xfrm>
            <a:off x="-71014" y="0"/>
            <a:ext cx="12263014" cy="6858000"/>
          </a:xfrm>
          <a:prstGeom prst="rect">
            <a:avLst/>
          </a:prstGeom>
          <a:solidFill>
            <a:schemeClr val="lt1">
              <a:alpha val="7137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20"/>
          <p:cNvGrpSpPr/>
          <p:nvPr/>
        </p:nvGrpSpPr>
        <p:grpSpPr>
          <a:xfrm flipH="1">
            <a:off x="2076202" y="1374276"/>
            <a:ext cx="7324426" cy="3883523"/>
            <a:chOff x="252031" y="-22763"/>
            <a:chExt cx="7324426" cy="7269964"/>
          </a:xfrm>
        </p:grpSpPr>
        <p:sp>
          <p:nvSpPr>
            <p:cNvPr id="431" name="Google Shape;431;p20"/>
            <p:cNvSpPr/>
            <p:nvPr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69411"/>
                  </a:srgbClr>
                </a:gs>
                <a:gs pos="50000">
                  <a:srgbClr val="05EE55">
                    <a:alpha val="69411"/>
                  </a:srgbClr>
                </a:gs>
                <a:gs pos="100000">
                  <a:srgbClr val="C0F400">
                    <a:alpha val="69411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cap="flat" cmpd="sng" w="127000">
              <a:solidFill>
                <a:srgbClr val="2F334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252031" y="655467"/>
              <a:ext cx="6475341" cy="57017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p20"/>
          <p:cNvSpPr txBox="1"/>
          <p:nvPr>
            <p:ph type="ctrTitle"/>
          </p:nvPr>
        </p:nvSpPr>
        <p:spPr>
          <a:xfrm>
            <a:off x="2791372" y="2238426"/>
            <a:ext cx="6609256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ts val="48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35" name="Google Shape;435;p20"/>
          <p:cNvSpPr txBox="1"/>
          <p:nvPr>
            <p:ph idx="1" type="subTitle"/>
          </p:nvPr>
        </p:nvSpPr>
        <p:spPr>
          <a:xfrm>
            <a:off x="2791372" y="3658579"/>
            <a:ext cx="6609256" cy="94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3342"/>
              </a:buClr>
              <a:buSzPct val="100000"/>
              <a:buNone/>
            </a:pPr>
            <a:r>
              <a:rPr lang="en-US"/>
              <a:t>Gaurav Mishra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ggmm3576@gmail.com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3342"/>
              </a:buClr>
              <a:buSzPct val="100000"/>
              <a:buNone/>
            </a:pPr>
            <a:r>
              <a:rPr lang="en-US"/>
              <a:t>(208) 357-6285</a:t>
            </a:r>
            <a:endParaRPr/>
          </a:p>
        </p:txBody>
      </p:sp>
      <p:sp>
        <p:nvSpPr>
          <p:cNvPr id="436" name="Google Shape;436;p20"/>
          <p:cNvSpPr/>
          <p:nvPr/>
        </p:nvSpPr>
        <p:spPr>
          <a:xfrm flipH="1">
            <a:off x="11549269" y="6356350"/>
            <a:ext cx="642731" cy="501650"/>
          </a:xfrm>
          <a:prstGeom prst="snip1Rect">
            <a:avLst>
              <a:gd fmla="val 16667" name="adj"/>
            </a:avLst>
          </a:prstGeom>
          <a:solidFill>
            <a:srgbClr val="2F3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 txBox="1"/>
          <p:nvPr>
            <p:ph idx="4294967295" type="sldNum"/>
          </p:nvPr>
        </p:nvSpPr>
        <p:spPr>
          <a:xfrm>
            <a:off x="11549268" y="6413649"/>
            <a:ext cx="642731" cy="407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0F400"/>
      </a:accent1>
      <a:accent2>
        <a:srgbClr val="05D74D"/>
      </a:accent2>
      <a:accent3>
        <a:srgbClr val="2F3342"/>
      </a:accent3>
      <a:accent4>
        <a:srgbClr val="038B30"/>
      </a:accent4>
      <a:accent5>
        <a:srgbClr val="05EE55"/>
      </a:accent5>
      <a:accent6>
        <a:srgbClr val="70AD47"/>
      </a:accent6>
      <a:hlink>
        <a:srgbClr val="05D74D"/>
      </a:hlink>
      <a:folHlink>
        <a:srgbClr val="C0F4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2022-01-18T04:09:12Z</dcterms:created>
  <dc:creator>Gaurav Mishra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